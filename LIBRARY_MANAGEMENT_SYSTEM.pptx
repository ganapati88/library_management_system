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60" r:id="rId5"/>
    <p:sldId id="261" r:id="rId6"/>
    <p:sldId id="288" r:id="rId7"/>
    <p:sldId id="289" r:id="rId8"/>
    <p:sldId id="293" r:id="rId9"/>
    <p:sldId id="294" r:id="rId10"/>
    <p:sldId id="295" r:id="rId11"/>
    <p:sldId id="296" r:id="rId12"/>
    <p:sldId id="297" r:id="rId13"/>
    <p:sldId id="306" r:id="rId14"/>
    <p:sldId id="298" r:id="rId15"/>
    <p:sldId id="299" r:id="rId16"/>
    <p:sldId id="300" r:id="rId17"/>
    <p:sldId id="301" r:id="rId18"/>
    <p:sldId id="308" r:id="rId19"/>
    <p:sldId id="302" r:id="rId20"/>
    <p:sldId id="303" r:id="rId21"/>
    <p:sldId id="304" r:id="rId22"/>
    <p:sldId id="305" r:id="rId23"/>
    <p:sldId id="291" r:id="rId24"/>
    <p:sldId id="307" r:id="rId25"/>
    <p:sldId id="309" r:id="rId26"/>
    <p:sldId id="311" r:id="rId27"/>
    <p:sldId id="310" r:id="rId28"/>
    <p:sldId id="259" r:id="rId29"/>
  </p:sldIdLst>
  <p:sldSz cx="12192000" cy="6858000"/>
  <p:notesSz cx="6858000" cy="9144000"/>
  <p:embeddedFontLst>
    <p:embeddedFont>
      <p:font typeface="Arial Black" panose="020B0A04020102020204" pitchFamily="34" charset="0"/>
      <p:bold r:id="rId31"/>
    </p:embeddedFont>
    <p:embeddedFont>
      <p:font typeface="Libre Baskerville" panose="02000000000000000000" pitchFamily="2" charset="0"/>
      <p:regular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29BFB2-620A-4707-BA4F-DF75B1DB2AD2}" v="37" dt="2026-07-13T11:12:07.0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40" Type="http://customschemas.google.com/relationships/presentationmetadata" Target="metadata"/><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163902"/>
            <a:ext cx="12190815" cy="6694098"/>
          </a:xfrm>
          <a:prstGeom prst="rect">
            <a:avLst/>
          </a:prstGeom>
          <a:noFill/>
          <a:ln>
            <a:noFill/>
          </a:ln>
        </p:spPr>
      </p:pic>
      <p:sp>
        <p:nvSpPr>
          <p:cNvPr id="3" name="TextBox 2">
            <a:extLst>
              <a:ext uri="{FF2B5EF4-FFF2-40B4-BE49-F238E27FC236}">
                <a16:creationId xmlns:a16="http://schemas.microsoft.com/office/drawing/2014/main" id="{4DE05939-DACE-9C29-F535-41896F9B186D}"/>
              </a:ext>
            </a:extLst>
          </p:cNvPr>
          <p:cNvSpPr txBox="1"/>
          <p:nvPr/>
        </p:nvSpPr>
        <p:spPr>
          <a:xfrm>
            <a:off x="2104103" y="3735717"/>
            <a:ext cx="7462683" cy="769441"/>
          </a:xfrm>
          <a:prstGeom prst="rect">
            <a:avLst/>
          </a:prstGeom>
          <a:noFill/>
        </p:spPr>
        <p:txBody>
          <a:bodyPr wrap="square">
            <a:spAutoFit/>
          </a:bodyPr>
          <a:lstStyle/>
          <a:p>
            <a:pPr>
              <a:buNone/>
            </a:pPr>
            <a:r>
              <a:rPr lang="en-IN" sz="3000" dirty="0">
                <a:solidFill>
                  <a:srgbClr val="0070C0"/>
                </a:solidFill>
              </a:rPr>
              <a:t>              Library Management System </a:t>
            </a:r>
          </a:p>
          <a:p>
            <a:pPr>
              <a:buNone/>
            </a:pPr>
            <a:r>
              <a:rPr lang="en-IN" b="1" dirty="0"/>
              <a:t>          </a:t>
            </a:r>
            <a:endParaRPr lang="en-IN" dirty="0"/>
          </a:p>
        </p:txBody>
      </p:sp>
      <p:pic>
        <p:nvPicPr>
          <p:cNvPr id="7" name="Picture 6">
            <a:extLst>
              <a:ext uri="{FF2B5EF4-FFF2-40B4-BE49-F238E27FC236}">
                <a16:creationId xmlns:a16="http://schemas.microsoft.com/office/drawing/2014/main" id="{303BBEC5-4861-85D7-5C85-7F8D6DAAE6C6}"/>
              </a:ext>
            </a:extLst>
          </p:cNvPr>
          <p:cNvPicPr>
            <a:picLocks noChangeAspect="1"/>
          </p:cNvPicPr>
          <p:nvPr/>
        </p:nvPicPr>
        <p:blipFill>
          <a:blip r:embed="rId4"/>
          <a:stretch>
            <a:fillRect/>
          </a:stretch>
        </p:blipFill>
        <p:spPr>
          <a:xfrm>
            <a:off x="9162960" y="3439553"/>
            <a:ext cx="1023260" cy="76944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590942" y="1023060"/>
            <a:ext cx="10180559" cy="8648481"/>
          </a:xfrm>
          <a:prstGeom prst="rect">
            <a:avLst/>
          </a:prstGeom>
          <a:noFill/>
          <a:ln>
            <a:noFill/>
          </a:ln>
        </p:spPr>
        <p:txBody>
          <a:bodyPr spcFirstLastPara="1" wrap="square" lIns="91425" tIns="45700" rIns="91425" bIns="45700" anchor="t" anchorCtr="0">
            <a:spAutoFit/>
          </a:bodyPr>
          <a:lstStyle/>
          <a:p>
            <a:r>
              <a:rPr lang="en-IN" sz="2500" b="1" dirty="0">
                <a:solidFill>
                  <a:schemeClr val="accent1"/>
                </a:solidFill>
              </a:rPr>
              <a:t>About Me:</a:t>
            </a:r>
          </a:p>
          <a:p>
            <a:r>
              <a:rPr lang="en-IN" sz="2000" b="1" dirty="0" err="1"/>
              <a:t>M.V.V.S.Ganapati</a:t>
            </a:r>
            <a:br>
              <a:rPr lang="en-IN" sz="2400" dirty="0"/>
            </a:br>
            <a:r>
              <a:rPr lang="en-IN" sz="2400" dirty="0" err="1"/>
              <a:t>B.Tech,ECE</a:t>
            </a:r>
            <a:r>
              <a:rPr lang="en-IN" sz="2400" dirty="0"/>
              <a:t> </a:t>
            </a:r>
            <a:br>
              <a:rPr lang="en-IN" sz="2400" dirty="0"/>
            </a:br>
            <a:r>
              <a:rPr lang="en-IN" sz="2400" dirty="0"/>
              <a:t>Sri Vasavi Engineering College</a:t>
            </a:r>
          </a:p>
          <a:p>
            <a:endParaRPr lang="en-IN" sz="2400" dirty="0"/>
          </a:p>
          <a:p>
            <a:r>
              <a:rPr lang="en-IN" sz="2500" b="1" dirty="0">
                <a:solidFill>
                  <a:srgbClr val="7030A0"/>
                </a:solidFill>
              </a:rPr>
              <a:t>Why Data Science:</a:t>
            </a:r>
          </a:p>
          <a:p>
            <a:r>
              <a:rPr lang="en-IN" sz="2400" dirty="0"/>
              <a:t>•Interested in solving business problems using data. </a:t>
            </a:r>
          </a:p>
          <a:p>
            <a:r>
              <a:rPr lang="en-IN" sz="2400" dirty="0"/>
              <a:t>•Passionate about SQL, analytics, and visualization.</a:t>
            </a:r>
          </a:p>
          <a:p>
            <a:endParaRPr lang="en-IN" sz="2400" dirty="0"/>
          </a:p>
          <a:p>
            <a:r>
              <a:rPr lang="en-IN" sz="2500" b="1" dirty="0">
                <a:solidFill>
                  <a:srgbClr val="92D050"/>
                </a:solidFill>
              </a:rPr>
              <a:t>Experience:</a:t>
            </a:r>
          </a:p>
          <a:p>
            <a:r>
              <a:rPr lang="en-IN" sz="2800" dirty="0"/>
              <a:t>• </a:t>
            </a:r>
            <a:r>
              <a:rPr lang="en-IN" sz="2000" dirty="0"/>
              <a:t>Fresher</a:t>
            </a:r>
          </a:p>
          <a:p>
            <a:endParaRPr lang="en-IN" sz="2000" dirty="0"/>
          </a:p>
          <a:p>
            <a:r>
              <a:rPr lang="en-IN" sz="2000" b="1" dirty="0">
                <a:solidFill>
                  <a:schemeClr val="accent2"/>
                </a:solidFill>
              </a:rPr>
              <a:t>LINKEDIN: </a:t>
            </a:r>
            <a:r>
              <a:rPr lang="en-IN" sz="2000" b="1" dirty="0">
                <a:solidFill>
                  <a:schemeClr val="accent5">
                    <a:lumMod val="40000"/>
                    <a:lumOff val="60000"/>
                  </a:schemeClr>
                </a:solidFill>
              </a:rPr>
              <a:t>https://www.linkedin.com/in/ganapati-meesala-b83b5640a/</a:t>
            </a:r>
            <a:endParaRPr lang="en-IN" sz="2500" b="1" dirty="0">
              <a:solidFill>
                <a:schemeClr val="accent5">
                  <a:lumMod val="40000"/>
                  <a:lumOff val="60000"/>
                </a:schemeClr>
              </a:solidFill>
            </a:endParaRPr>
          </a:p>
          <a:p>
            <a:endParaRPr lang="en-IN" sz="2800" dirty="0">
              <a:solidFill>
                <a:schemeClr val="accent5">
                  <a:lumMod val="40000"/>
                  <a:lumOff val="60000"/>
                </a:schemeClr>
              </a:solidFill>
            </a:endParaRPr>
          </a:p>
          <a:p>
            <a:r>
              <a:rPr lang="en-IN" sz="2800" b="1" dirty="0">
                <a:solidFill>
                  <a:schemeClr val="accent1">
                    <a:lumMod val="50000"/>
                  </a:schemeClr>
                </a:solidFill>
              </a:rPr>
              <a:t>GitHub</a:t>
            </a:r>
            <a:r>
              <a:rPr lang="en-IN" sz="2800" dirty="0">
                <a:solidFill>
                  <a:schemeClr val="accent1">
                    <a:lumMod val="50000"/>
                  </a:schemeClr>
                </a:solidFill>
              </a:rPr>
              <a:t>: </a:t>
            </a:r>
            <a:r>
              <a:rPr lang="en-IN" sz="2000" dirty="0">
                <a:solidFill>
                  <a:schemeClr val="accent5">
                    <a:lumMod val="60000"/>
                    <a:lumOff val="40000"/>
                  </a:schemeClr>
                </a:solidFill>
              </a:rPr>
              <a:t>https://github.com/Ganapati88</a:t>
            </a:r>
            <a:br>
              <a:rPr lang="en-IN" sz="2800" dirty="0">
                <a:solidFill>
                  <a:schemeClr val="accent5">
                    <a:lumMod val="40000"/>
                    <a:lumOff val="60000"/>
                  </a:schemeClr>
                </a:solidFill>
              </a:rPr>
            </a:br>
            <a:endParaRPr lang="en-IN" sz="2500" b="1" dirty="0">
              <a:solidFill>
                <a:schemeClr val="accent5">
                  <a:lumMod val="40000"/>
                  <a:lumOff val="60000"/>
                </a:schemeClr>
              </a:solidFill>
            </a:endParaRPr>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p:txBody>
      </p:sp>
      <p:sp>
        <p:nvSpPr>
          <p:cNvPr id="105" name="Google Shape;105;p3"/>
          <p:cNvSpPr txBox="1"/>
          <p:nvPr/>
        </p:nvSpPr>
        <p:spPr>
          <a:xfrm>
            <a:off x="590942" y="438325"/>
            <a:ext cx="6099600" cy="584735"/>
          </a:xfrm>
          <a:prstGeom prst="rect">
            <a:avLst/>
          </a:prstGeom>
          <a:noFill/>
          <a:ln>
            <a:noFill/>
          </a:ln>
        </p:spPr>
        <p:txBody>
          <a:bodyPr spcFirstLastPara="1" wrap="square" lIns="91425" tIns="45700" rIns="91425" bIns="45700" anchor="t" anchorCtr="0">
            <a:spAutoFit/>
          </a:bodyPr>
          <a:lstStyle/>
          <a:p>
            <a:pPr lvl="0">
              <a:lnSpc>
                <a:spcPct val="80000"/>
              </a:lnSpc>
              <a:buClr>
                <a:srgbClr val="FF0000"/>
              </a:buClr>
              <a:buSzPts val="3200"/>
            </a:pPr>
            <a:r>
              <a:rPr lang="en-IN" sz="4000" dirty="0">
                <a:solidFill>
                  <a:srgbClr val="002060"/>
                </a:solidFill>
              </a:rPr>
              <a:t>Profile</a:t>
            </a:r>
            <a:endParaRPr sz="4000" b="0" i="0" u="none" strike="noStrike" cap="none" dirty="0">
              <a:solidFill>
                <a:srgbClr val="00206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435429"/>
            <a:ext cx="10515600" cy="642257"/>
          </a:xfrm>
          <a:prstGeom prst="rect">
            <a:avLst/>
          </a:prstGeom>
          <a:noFill/>
          <a:ln>
            <a:noFill/>
          </a:ln>
        </p:spPr>
        <p:txBody>
          <a:bodyPr spcFirstLastPara="1" wrap="square" lIns="91425" tIns="45700" rIns="91425" bIns="45700" anchor="ctr" anchorCtr="0">
            <a:normAutofit fontScale="90000"/>
          </a:bodyPr>
          <a:lstStyle/>
          <a:p>
            <a:pPr algn="ctr">
              <a:buClr>
                <a:srgbClr val="FF0000"/>
              </a:buClr>
              <a:buSzPts val="4400"/>
            </a:pPr>
            <a:br>
              <a:rPr lang="en-IN" b="1" dirty="0">
                <a:solidFill>
                  <a:schemeClr val="accent1">
                    <a:lumMod val="75000"/>
                  </a:schemeClr>
                </a:solidFill>
              </a:rPr>
            </a:br>
            <a:endParaRPr b="1" dirty="0">
              <a:solidFill>
                <a:srgbClr val="FF0000"/>
              </a:solidFill>
            </a:endParaRPr>
          </a:p>
        </p:txBody>
      </p:sp>
      <p:sp>
        <p:nvSpPr>
          <p:cNvPr id="111" name="Google Shape;111;p4"/>
          <p:cNvSpPr txBox="1">
            <a:spLocks noGrp="1"/>
          </p:cNvSpPr>
          <p:nvPr>
            <p:ph type="body" idx="1"/>
          </p:nvPr>
        </p:nvSpPr>
        <p:spPr>
          <a:xfrm>
            <a:off x="684880" y="363794"/>
            <a:ext cx="10515600" cy="6058777"/>
          </a:xfrm>
          <a:prstGeom prst="rect">
            <a:avLst/>
          </a:prstGeom>
          <a:noFill/>
          <a:ln>
            <a:noFill/>
          </a:ln>
        </p:spPr>
        <p:txBody>
          <a:bodyPr spcFirstLastPara="1" wrap="square" lIns="91425" tIns="45700" rIns="91425" bIns="45700" anchor="t" anchorCtr="0">
            <a:normAutofit/>
          </a:bodyPr>
          <a:lstStyle/>
          <a:p>
            <a:pPr marL="114300" indent="0">
              <a:buNone/>
            </a:pPr>
            <a:r>
              <a:rPr lang="en-IN" sz="2400" b="1" dirty="0">
                <a:solidFill>
                  <a:schemeClr val="accent2"/>
                </a:solidFill>
              </a:rPr>
              <a:t>Problem Statement</a:t>
            </a:r>
          </a:p>
          <a:p>
            <a:r>
              <a:rPr lang="en-IN" sz="2400" dirty="0"/>
              <a:t>The Library Management System generates data related to books, borrowers, loans, and library branches. The project uses SQL to </a:t>
            </a:r>
            <a:r>
              <a:rPr lang="en-IN" sz="2400" dirty="0" err="1"/>
              <a:t>analyze</a:t>
            </a:r>
            <a:r>
              <a:rPr lang="en-IN" sz="2400" dirty="0"/>
              <a:t> this data and identify useful patterns and insights for better library management.</a:t>
            </a:r>
          </a:p>
          <a:p>
            <a:pPr marL="114300" indent="0">
              <a:buNone/>
            </a:pPr>
            <a:endParaRPr lang="en-IN" sz="2400" dirty="0"/>
          </a:p>
          <a:p>
            <a:pPr marL="114300" indent="0">
              <a:buNone/>
            </a:pPr>
            <a:r>
              <a:rPr lang="en-IN" sz="2400" b="1" dirty="0">
                <a:solidFill>
                  <a:srgbClr val="0070C0"/>
                </a:solidFill>
              </a:rPr>
              <a:t>Main Objectives</a:t>
            </a:r>
          </a:p>
          <a:p>
            <a:pPr lvl="0"/>
            <a:r>
              <a:rPr lang="en-IN" sz="2400" dirty="0" err="1"/>
              <a:t>Analyze</a:t>
            </a:r>
            <a:r>
              <a:rPr lang="en-IN" sz="2400" dirty="0"/>
              <a:t> book and borrowing activities </a:t>
            </a:r>
          </a:p>
          <a:p>
            <a:pPr lvl="0"/>
            <a:r>
              <a:rPr lang="en-IN" sz="2400" dirty="0"/>
              <a:t>Identify popular and frequently borrowed books </a:t>
            </a:r>
          </a:p>
          <a:p>
            <a:pPr lvl="0"/>
            <a:r>
              <a:rPr lang="en-IN" sz="2400" dirty="0" err="1"/>
              <a:t>Analyze</a:t>
            </a:r>
            <a:r>
              <a:rPr lang="en-IN" sz="2400" dirty="0"/>
              <a:t> borrower </a:t>
            </a:r>
            <a:r>
              <a:rPr lang="en-IN" sz="2400" dirty="0" err="1"/>
              <a:t>behavior</a:t>
            </a:r>
            <a:r>
              <a:rPr lang="en-IN" sz="2400" dirty="0"/>
              <a:t> </a:t>
            </a:r>
          </a:p>
          <a:p>
            <a:pPr lvl="0"/>
            <a:r>
              <a:rPr lang="en-IN" sz="2400" dirty="0"/>
              <a:t>Compare library branch performance </a:t>
            </a:r>
          </a:p>
          <a:p>
            <a:pPr lvl="0"/>
            <a:r>
              <a:rPr lang="en-IN" sz="2400" dirty="0"/>
              <a:t>Find useful insights from loan and book data </a:t>
            </a:r>
          </a:p>
          <a:p>
            <a:pPr lvl="0"/>
            <a:r>
              <a:rPr lang="en-IN" sz="2400" dirty="0"/>
              <a:t>Support better library management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00D67-BFED-5CE8-2BAA-F0EEE60E29E8}"/>
              </a:ext>
            </a:extLst>
          </p:cNvPr>
          <p:cNvSpPr>
            <a:spLocks noGrp="1"/>
          </p:cNvSpPr>
          <p:nvPr>
            <p:ph type="title"/>
          </p:nvPr>
        </p:nvSpPr>
        <p:spPr>
          <a:xfrm>
            <a:off x="838200" y="365126"/>
            <a:ext cx="10515600" cy="766988"/>
          </a:xfrm>
        </p:spPr>
        <p:txBody>
          <a:bodyPr>
            <a:normAutofit/>
          </a:bodyPr>
          <a:lstStyle/>
          <a:p>
            <a:pPr algn="ctr"/>
            <a:r>
              <a:rPr lang="en-IN" dirty="0">
                <a:solidFill>
                  <a:schemeClr val="accent2">
                    <a:lumMod val="75000"/>
                  </a:schemeClr>
                </a:solidFill>
              </a:rPr>
              <a:t>Database Schema</a:t>
            </a:r>
          </a:p>
        </p:txBody>
      </p:sp>
      <p:sp>
        <p:nvSpPr>
          <p:cNvPr id="3" name="Text Placeholder 2">
            <a:extLst>
              <a:ext uri="{FF2B5EF4-FFF2-40B4-BE49-F238E27FC236}">
                <a16:creationId xmlns:a16="http://schemas.microsoft.com/office/drawing/2014/main" id="{FD8B411D-DCE6-EB36-2FD8-0EF9AE1703C7}"/>
              </a:ext>
            </a:extLst>
          </p:cNvPr>
          <p:cNvSpPr>
            <a:spLocks noGrp="1"/>
          </p:cNvSpPr>
          <p:nvPr>
            <p:ph type="body" idx="1"/>
          </p:nvPr>
        </p:nvSpPr>
        <p:spPr>
          <a:xfrm>
            <a:off x="838200" y="1132114"/>
            <a:ext cx="10515600" cy="5044849"/>
          </a:xfrm>
        </p:spPr>
        <p:txBody>
          <a:bodyPr>
            <a:normAutofit/>
          </a:bodyPr>
          <a:lstStyle/>
          <a:p>
            <a:pPr marL="114300" indent="0">
              <a:buNone/>
            </a:pPr>
            <a:endParaRPr lang="en-IN" sz="3000" dirty="0">
              <a:solidFill>
                <a:schemeClr val="accent1">
                  <a:lumMod val="60000"/>
                  <a:lumOff val="40000"/>
                </a:schemeClr>
              </a:solidFill>
            </a:endParaRPr>
          </a:p>
        </p:txBody>
      </p:sp>
      <p:pic>
        <p:nvPicPr>
          <p:cNvPr id="6" name="Picture 5">
            <a:extLst>
              <a:ext uri="{FF2B5EF4-FFF2-40B4-BE49-F238E27FC236}">
                <a16:creationId xmlns:a16="http://schemas.microsoft.com/office/drawing/2014/main" id="{38A222D0-DFAE-F337-79A5-1C2BB260EBFB}"/>
              </a:ext>
            </a:extLst>
          </p:cNvPr>
          <p:cNvPicPr>
            <a:picLocks noChangeAspect="1"/>
          </p:cNvPicPr>
          <p:nvPr/>
        </p:nvPicPr>
        <p:blipFill>
          <a:blip r:embed="rId2"/>
          <a:stretch>
            <a:fillRect/>
          </a:stretch>
        </p:blipFill>
        <p:spPr>
          <a:xfrm>
            <a:off x="759543" y="1033792"/>
            <a:ext cx="10515599" cy="5044849"/>
          </a:xfrm>
          <a:prstGeom prst="rect">
            <a:avLst/>
          </a:prstGeom>
        </p:spPr>
      </p:pic>
    </p:spTree>
    <p:extLst>
      <p:ext uri="{BB962C8B-B14F-4D97-AF65-F5344CB8AC3E}">
        <p14:creationId xmlns:p14="http://schemas.microsoft.com/office/powerpoint/2010/main" val="3222342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B2568-672E-8C3E-D688-2DD7F9B4EA2A}"/>
              </a:ext>
            </a:extLst>
          </p:cNvPr>
          <p:cNvSpPr>
            <a:spLocks noGrp="1"/>
          </p:cNvSpPr>
          <p:nvPr>
            <p:ph type="title"/>
          </p:nvPr>
        </p:nvSpPr>
        <p:spPr>
          <a:xfrm>
            <a:off x="838200" y="365126"/>
            <a:ext cx="10515600" cy="766988"/>
          </a:xfrm>
        </p:spPr>
        <p:txBody>
          <a:bodyPr/>
          <a:lstStyle/>
          <a:p>
            <a:pPr algn="ctr"/>
            <a:r>
              <a:rPr lang="en-IN" dirty="0">
                <a:solidFill>
                  <a:schemeClr val="accent2">
                    <a:lumMod val="75000"/>
                  </a:schemeClr>
                </a:solidFill>
                <a:latin typeface="Arial Black" panose="020B0A04020102020204" pitchFamily="34" charset="0"/>
              </a:rPr>
              <a:t>Dataset Overview</a:t>
            </a:r>
          </a:p>
        </p:txBody>
      </p:sp>
      <p:sp>
        <p:nvSpPr>
          <p:cNvPr id="4" name="TextBox 3">
            <a:extLst>
              <a:ext uri="{FF2B5EF4-FFF2-40B4-BE49-F238E27FC236}">
                <a16:creationId xmlns:a16="http://schemas.microsoft.com/office/drawing/2014/main" id="{2D38C0D1-FB43-E7B2-8842-856B7F7D58B3}"/>
              </a:ext>
            </a:extLst>
          </p:cNvPr>
          <p:cNvSpPr txBox="1"/>
          <p:nvPr/>
        </p:nvSpPr>
        <p:spPr>
          <a:xfrm>
            <a:off x="838200" y="1491343"/>
            <a:ext cx="9122229" cy="3293209"/>
          </a:xfrm>
          <a:prstGeom prst="rect">
            <a:avLst/>
          </a:prstGeom>
          <a:noFill/>
        </p:spPr>
        <p:txBody>
          <a:bodyPr wrap="square">
            <a:spAutoFit/>
          </a:bodyPr>
          <a:lstStyle/>
          <a:p>
            <a:r>
              <a:rPr lang="en-IN" sz="2000" b="1" dirty="0"/>
              <a:t>Data Source</a:t>
            </a:r>
            <a:r>
              <a:rPr lang="en-IN" b="1" dirty="0"/>
              <a:t>:</a:t>
            </a:r>
            <a:r>
              <a:rPr lang="en-IN" dirty="0"/>
              <a:t> </a:t>
            </a:r>
            <a:r>
              <a:rPr lang="en-IN" sz="1600" dirty="0">
                <a:latin typeface="Calibri" panose="020F0502020204030204" pitchFamily="34" charset="0"/>
                <a:ea typeface="Calibri" panose="020F0502020204030204" pitchFamily="34" charset="0"/>
                <a:cs typeface="Calibri" panose="020F0502020204030204" pitchFamily="34" charset="0"/>
              </a:rPr>
              <a:t>MySQL Database </a:t>
            </a:r>
          </a:p>
          <a:p>
            <a:endParaRPr lang="en-IN" sz="1600" dirty="0">
              <a:latin typeface="Calibri" panose="020F0502020204030204" pitchFamily="34" charset="0"/>
              <a:ea typeface="Calibri" panose="020F0502020204030204" pitchFamily="34" charset="0"/>
              <a:cs typeface="Calibri" panose="020F0502020204030204" pitchFamily="34" charset="0"/>
            </a:endParaRPr>
          </a:p>
          <a:p>
            <a:r>
              <a:rPr lang="en-IN" sz="2000" b="1" dirty="0"/>
              <a:t>Database </a:t>
            </a:r>
            <a:r>
              <a:rPr lang="en-IN" sz="2000" b="1" dirty="0" err="1"/>
              <a:t>Name:</a:t>
            </a:r>
            <a:r>
              <a:rPr lang="en-IN" sz="1600" dirty="0" err="1">
                <a:latin typeface="Calibri" panose="020F0502020204030204" pitchFamily="34" charset="0"/>
                <a:ea typeface="Calibri" panose="020F0502020204030204" pitchFamily="34" charset="0"/>
                <a:cs typeface="Calibri" panose="020F0502020204030204" pitchFamily="34" charset="0"/>
              </a:rPr>
              <a:t>library_db</a:t>
            </a:r>
            <a:endParaRPr lang="en-IN" sz="1600" dirty="0">
              <a:latin typeface="Calibri" panose="020F0502020204030204" pitchFamily="34" charset="0"/>
              <a:ea typeface="Calibri" panose="020F0502020204030204" pitchFamily="34" charset="0"/>
              <a:cs typeface="Calibri" panose="020F0502020204030204" pitchFamily="34" charset="0"/>
            </a:endParaRPr>
          </a:p>
          <a:p>
            <a:endParaRPr lang="en-IN" sz="1600" dirty="0">
              <a:latin typeface="Calibri" panose="020F0502020204030204" pitchFamily="34" charset="0"/>
              <a:ea typeface="Calibri" panose="020F0502020204030204" pitchFamily="34" charset="0"/>
              <a:cs typeface="Calibri" panose="020F0502020204030204" pitchFamily="34" charset="0"/>
            </a:endParaRPr>
          </a:p>
          <a:p>
            <a:r>
              <a:rPr lang="en-IN" sz="1600" b="1" dirty="0"/>
              <a:t>Total Tables:</a:t>
            </a:r>
            <a:r>
              <a:rPr lang="en-IN" sz="1600" dirty="0"/>
              <a:t> </a:t>
            </a:r>
            <a:r>
              <a:rPr lang="en-IN" sz="1600" dirty="0">
                <a:latin typeface="Calibri" panose="020F0502020204030204" pitchFamily="34" charset="0"/>
                <a:ea typeface="Calibri" panose="020F0502020204030204" pitchFamily="34" charset="0"/>
                <a:cs typeface="Calibri" panose="020F0502020204030204" pitchFamily="34" charset="0"/>
              </a:rPr>
              <a:t>7 </a:t>
            </a:r>
          </a:p>
          <a:p>
            <a:endParaRPr lang="en-IN" sz="1600" dirty="0">
              <a:latin typeface="Calibri" panose="020F0502020204030204" pitchFamily="34" charset="0"/>
              <a:ea typeface="Calibri" panose="020F0502020204030204" pitchFamily="34" charset="0"/>
              <a:cs typeface="Calibri" panose="020F0502020204030204" pitchFamily="34" charset="0"/>
            </a:endParaRPr>
          </a:p>
          <a:p>
            <a:r>
              <a:rPr lang="en-IN" sz="2000" b="1" dirty="0"/>
              <a:t>Tables</a:t>
            </a:r>
            <a:r>
              <a:rPr lang="en-IN" b="1" dirty="0"/>
              <a:t>:</a:t>
            </a:r>
          </a:p>
          <a:p>
            <a:r>
              <a:rPr lang="en-US" dirty="0"/>
              <a:t>tbl_publisher,tbl_book,tbl_book_authors,tbl_library_branch,tbl_book_copies,tbl_borrower,tbl_book_loans</a:t>
            </a:r>
          </a:p>
          <a:p>
            <a:endParaRPr lang="en-IN" dirty="0"/>
          </a:p>
          <a:p>
            <a:r>
              <a:rPr lang="en-IN" sz="2000" b="1" dirty="0"/>
              <a:t>Visualization &amp; Analysis Tool</a:t>
            </a:r>
            <a:r>
              <a:rPr lang="en-IN" b="1" dirty="0"/>
              <a:t>:</a:t>
            </a:r>
            <a:r>
              <a:rPr lang="en-IN" dirty="0"/>
              <a:t> </a:t>
            </a:r>
            <a:r>
              <a:rPr lang="en-IN" sz="1600" dirty="0">
                <a:latin typeface="Calibri" panose="020F0502020204030204" pitchFamily="34" charset="0"/>
                <a:ea typeface="Calibri" panose="020F0502020204030204" pitchFamily="34" charset="0"/>
                <a:cs typeface="Calibri" panose="020F0502020204030204" pitchFamily="34" charset="0"/>
              </a:rPr>
              <a:t>Power BI </a:t>
            </a:r>
          </a:p>
          <a:p>
            <a:endParaRPr lang="en-IN" sz="1600" dirty="0">
              <a:latin typeface="Calibri" panose="020F0502020204030204" pitchFamily="34" charset="0"/>
              <a:ea typeface="Calibri" panose="020F0502020204030204" pitchFamily="34" charset="0"/>
              <a:cs typeface="Calibri" panose="020F0502020204030204" pitchFamily="34" charset="0"/>
            </a:endParaRPr>
          </a:p>
          <a:p>
            <a:r>
              <a:rPr lang="en-IN" sz="2000" b="1" dirty="0"/>
              <a:t>Purpose</a:t>
            </a:r>
            <a:r>
              <a:rPr lang="en-IN" sz="1600" b="1" dirty="0">
                <a:latin typeface="Calibri" panose="020F0502020204030204" pitchFamily="34" charset="0"/>
                <a:ea typeface="Calibri" panose="020F0502020204030204" pitchFamily="34" charset="0"/>
                <a:cs typeface="Calibri" panose="020F0502020204030204" pitchFamily="34" charset="0"/>
              </a:rPr>
              <a:t>:</a:t>
            </a:r>
            <a:r>
              <a:rPr lang="en-IN" sz="1600" dirty="0">
                <a:latin typeface="Calibri" panose="020F0502020204030204" pitchFamily="34" charset="0"/>
                <a:ea typeface="Calibri" panose="020F0502020204030204" pitchFamily="34" charset="0"/>
                <a:cs typeface="Calibri" panose="020F0502020204030204" pitchFamily="34" charset="0"/>
              </a:rPr>
              <a:t> T</a:t>
            </a:r>
            <a:r>
              <a:rPr lang="en-IN" sz="1600" dirty="0"/>
              <a:t>o </a:t>
            </a:r>
            <a:r>
              <a:rPr lang="en-IN" sz="1600" dirty="0" err="1"/>
              <a:t>analyze</a:t>
            </a:r>
            <a:r>
              <a:rPr lang="en-IN" sz="1600" dirty="0"/>
              <a:t> library data and understand books, borrowers, loans, and branch activities</a:t>
            </a:r>
            <a:endParaRPr lang="en-IN" dirty="0"/>
          </a:p>
        </p:txBody>
      </p:sp>
    </p:spTree>
    <p:extLst>
      <p:ext uri="{BB962C8B-B14F-4D97-AF65-F5344CB8AC3E}">
        <p14:creationId xmlns:p14="http://schemas.microsoft.com/office/powerpoint/2010/main" val="566576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58DCCD-2174-EBB3-BD70-6BBA78208E24}"/>
              </a:ext>
            </a:extLst>
          </p:cNvPr>
          <p:cNvSpPr txBox="1"/>
          <p:nvPr/>
        </p:nvSpPr>
        <p:spPr>
          <a:xfrm>
            <a:off x="3991897" y="393292"/>
            <a:ext cx="3637534" cy="461665"/>
          </a:xfrm>
          <a:prstGeom prst="rect">
            <a:avLst/>
          </a:prstGeom>
          <a:noFill/>
        </p:spPr>
        <p:txBody>
          <a:bodyPr wrap="none" rtlCol="0">
            <a:spAutoFit/>
          </a:bodyPr>
          <a:lstStyle/>
          <a:p>
            <a:r>
              <a:rPr lang="en-IN" sz="2400" b="1" dirty="0">
                <a:solidFill>
                  <a:srgbClr val="FF0000"/>
                </a:solidFill>
              </a:rPr>
              <a:t>BUSINESS</a:t>
            </a:r>
            <a:r>
              <a:rPr lang="en-IN" sz="2400" dirty="0">
                <a:solidFill>
                  <a:srgbClr val="FF0000"/>
                </a:solidFill>
              </a:rPr>
              <a:t> </a:t>
            </a:r>
            <a:r>
              <a:rPr lang="en-IN" sz="2400" b="1" dirty="0">
                <a:solidFill>
                  <a:srgbClr val="FF0000"/>
                </a:solidFill>
              </a:rPr>
              <a:t>QUESTIONS</a:t>
            </a:r>
          </a:p>
        </p:txBody>
      </p:sp>
      <p:sp>
        <p:nvSpPr>
          <p:cNvPr id="3" name="TextBox 2">
            <a:extLst>
              <a:ext uri="{FF2B5EF4-FFF2-40B4-BE49-F238E27FC236}">
                <a16:creationId xmlns:a16="http://schemas.microsoft.com/office/drawing/2014/main" id="{389D20AA-711A-73C1-A941-F0B885A4DE0D}"/>
              </a:ext>
            </a:extLst>
          </p:cNvPr>
          <p:cNvSpPr txBox="1"/>
          <p:nvPr/>
        </p:nvSpPr>
        <p:spPr>
          <a:xfrm>
            <a:off x="4345858" y="934065"/>
            <a:ext cx="2784737" cy="338554"/>
          </a:xfrm>
          <a:prstGeom prst="rect">
            <a:avLst/>
          </a:prstGeom>
          <a:noFill/>
        </p:spPr>
        <p:txBody>
          <a:bodyPr wrap="none" rtlCol="0">
            <a:spAutoFit/>
          </a:bodyPr>
          <a:lstStyle/>
          <a:p>
            <a:r>
              <a:rPr lang="en-IN" sz="1600" b="1" dirty="0">
                <a:solidFill>
                  <a:schemeClr val="accent2"/>
                </a:solidFill>
              </a:rPr>
              <a:t>Module 1 – Book Analytics</a:t>
            </a:r>
          </a:p>
        </p:txBody>
      </p:sp>
      <p:sp>
        <p:nvSpPr>
          <p:cNvPr id="5" name="TextBox 4">
            <a:extLst>
              <a:ext uri="{FF2B5EF4-FFF2-40B4-BE49-F238E27FC236}">
                <a16:creationId xmlns:a16="http://schemas.microsoft.com/office/drawing/2014/main" id="{5F4A940A-3D43-7CEC-0B96-A8D076E17B7A}"/>
              </a:ext>
            </a:extLst>
          </p:cNvPr>
          <p:cNvSpPr txBox="1"/>
          <p:nvPr/>
        </p:nvSpPr>
        <p:spPr>
          <a:xfrm>
            <a:off x="240855" y="1351727"/>
            <a:ext cx="9512540" cy="307777"/>
          </a:xfrm>
          <a:prstGeom prst="rect">
            <a:avLst/>
          </a:prstGeom>
          <a:noFill/>
        </p:spPr>
        <p:txBody>
          <a:bodyPr wrap="none" rtlCol="0">
            <a:spAutoFit/>
          </a:bodyPr>
          <a:lstStyle/>
          <a:p>
            <a:r>
              <a:rPr lang="en-IN" dirty="0"/>
              <a:t>1.</a:t>
            </a:r>
            <a:r>
              <a:rPr lang="en-US" dirty="0"/>
              <a:t> How many copies of the book titled "The Lost Tribe" are owned by the library branch whose name is "Sharpstown"?</a:t>
            </a:r>
            <a:endParaRPr lang="en-IN" dirty="0"/>
          </a:p>
        </p:txBody>
      </p:sp>
      <p:sp>
        <p:nvSpPr>
          <p:cNvPr id="6" name="TextBox 5">
            <a:extLst>
              <a:ext uri="{FF2B5EF4-FFF2-40B4-BE49-F238E27FC236}">
                <a16:creationId xmlns:a16="http://schemas.microsoft.com/office/drawing/2014/main" id="{D0F70B5C-13DE-E8A0-2E12-02F7ECF20490}"/>
              </a:ext>
            </a:extLst>
          </p:cNvPr>
          <p:cNvSpPr txBox="1"/>
          <p:nvPr/>
        </p:nvSpPr>
        <p:spPr>
          <a:xfrm>
            <a:off x="240855" y="1848497"/>
            <a:ext cx="883575" cy="307777"/>
          </a:xfrm>
          <a:prstGeom prst="rect">
            <a:avLst/>
          </a:prstGeom>
          <a:noFill/>
        </p:spPr>
        <p:txBody>
          <a:bodyPr wrap="none" rtlCol="0">
            <a:spAutoFit/>
          </a:bodyPr>
          <a:lstStyle/>
          <a:p>
            <a:r>
              <a:rPr lang="en-IN" b="1" dirty="0"/>
              <a:t>QUERY:</a:t>
            </a:r>
          </a:p>
        </p:txBody>
      </p:sp>
      <p:pic>
        <p:nvPicPr>
          <p:cNvPr id="9" name="Picture 8">
            <a:extLst>
              <a:ext uri="{FF2B5EF4-FFF2-40B4-BE49-F238E27FC236}">
                <a16:creationId xmlns:a16="http://schemas.microsoft.com/office/drawing/2014/main" id="{5F73195A-1E91-8155-78E4-BA6A421436CC}"/>
              </a:ext>
            </a:extLst>
          </p:cNvPr>
          <p:cNvPicPr>
            <a:picLocks noChangeAspect="1"/>
          </p:cNvPicPr>
          <p:nvPr/>
        </p:nvPicPr>
        <p:blipFill>
          <a:blip r:embed="rId2"/>
          <a:stretch>
            <a:fillRect/>
          </a:stretch>
        </p:blipFill>
        <p:spPr>
          <a:xfrm>
            <a:off x="416131" y="2168617"/>
            <a:ext cx="5753599" cy="1980927"/>
          </a:xfrm>
          <a:prstGeom prst="rect">
            <a:avLst/>
          </a:prstGeom>
        </p:spPr>
      </p:pic>
      <p:sp>
        <p:nvSpPr>
          <p:cNvPr id="10" name="TextBox 9">
            <a:extLst>
              <a:ext uri="{FF2B5EF4-FFF2-40B4-BE49-F238E27FC236}">
                <a16:creationId xmlns:a16="http://schemas.microsoft.com/office/drawing/2014/main" id="{D8098B7E-62BE-286A-C855-507262DB1BDB}"/>
              </a:ext>
            </a:extLst>
          </p:cNvPr>
          <p:cNvSpPr txBox="1"/>
          <p:nvPr/>
        </p:nvSpPr>
        <p:spPr>
          <a:xfrm>
            <a:off x="240855" y="4508332"/>
            <a:ext cx="962123" cy="307777"/>
          </a:xfrm>
          <a:prstGeom prst="rect">
            <a:avLst/>
          </a:prstGeom>
          <a:noFill/>
        </p:spPr>
        <p:txBody>
          <a:bodyPr wrap="none" rtlCol="0">
            <a:spAutoFit/>
          </a:bodyPr>
          <a:lstStyle/>
          <a:p>
            <a:r>
              <a:rPr lang="en-IN" b="1" dirty="0"/>
              <a:t>RESULT:</a:t>
            </a:r>
          </a:p>
        </p:txBody>
      </p:sp>
      <p:pic>
        <p:nvPicPr>
          <p:cNvPr id="13" name="Picture 12">
            <a:extLst>
              <a:ext uri="{FF2B5EF4-FFF2-40B4-BE49-F238E27FC236}">
                <a16:creationId xmlns:a16="http://schemas.microsoft.com/office/drawing/2014/main" id="{264FC79E-A032-BBBA-2699-45D4545949D8}"/>
              </a:ext>
            </a:extLst>
          </p:cNvPr>
          <p:cNvPicPr>
            <a:picLocks noChangeAspect="1"/>
          </p:cNvPicPr>
          <p:nvPr/>
        </p:nvPicPr>
        <p:blipFill>
          <a:blip r:embed="rId3"/>
          <a:stretch>
            <a:fillRect/>
          </a:stretch>
        </p:blipFill>
        <p:spPr>
          <a:xfrm>
            <a:off x="543951" y="4963923"/>
            <a:ext cx="5886346" cy="1417212"/>
          </a:xfrm>
          <a:prstGeom prst="rect">
            <a:avLst/>
          </a:prstGeom>
        </p:spPr>
      </p:pic>
    </p:spTree>
    <p:extLst>
      <p:ext uri="{BB962C8B-B14F-4D97-AF65-F5344CB8AC3E}">
        <p14:creationId xmlns:p14="http://schemas.microsoft.com/office/powerpoint/2010/main" val="789101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6199B6-B9D7-2FA8-EAD0-5B2C4C270CBB}"/>
              </a:ext>
            </a:extLst>
          </p:cNvPr>
          <p:cNvSpPr txBox="1"/>
          <p:nvPr/>
        </p:nvSpPr>
        <p:spPr>
          <a:xfrm>
            <a:off x="353962" y="304801"/>
            <a:ext cx="7835799" cy="307777"/>
          </a:xfrm>
          <a:prstGeom prst="rect">
            <a:avLst/>
          </a:prstGeom>
          <a:noFill/>
        </p:spPr>
        <p:txBody>
          <a:bodyPr wrap="none" rtlCol="0">
            <a:spAutoFit/>
          </a:bodyPr>
          <a:lstStyle/>
          <a:p>
            <a:r>
              <a:rPr lang="en-IN" b="1" dirty="0"/>
              <a:t>2.</a:t>
            </a:r>
            <a:r>
              <a:rPr lang="en-US" b="1" dirty="0"/>
              <a:t> How many copies of the book titled "The Lost Tribe" are owned by each library branch?</a:t>
            </a:r>
            <a:endParaRPr lang="en-IN" b="1" dirty="0"/>
          </a:p>
        </p:txBody>
      </p:sp>
      <p:pic>
        <p:nvPicPr>
          <p:cNvPr id="5" name="Picture 4">
            <a:extLst>
              <a:ext uri="{FF2B5EF4-FFF2-40B4-BE49-F238E27FC236}">
                <a16:creationId xmlns:a16="http://schemas.microsoft.com/office/drawing/2014/main" id="{BE4016DC-1039-95DB-126B-2D05896989E5}"/>
              </a:ext>
            </a:extLst>
          </p:cNvPr>
          <p:cNvPicPr>
            <a:picLocks noChangeAspect="1"/>
          </p:cNvPicPr>
          <p:nvPr/>
        </p:nvPicPr>
        <p:blipFill>
          <a:blip r:embed="rId2"/>
          <a:stretch>
            <a:fillRect/>
          </a:stretch>
        </p:blipFill>
        <p:spPr>
          <a:xfrm>
            <a:off x="609601" y="1138597"/>
            <a:ext cx="5982218" cy="2017558"/>
          </a:xfrm>
          <a:prstGeom prst="rect">
            <a:avLst/>
          </a:prstGeom>
        </p:spPr>
      </p:pic>
      <p:sp>
        <p:nvSpPr>
          <p:cNvPr id="7" name="TextBox 6">
            <a:extLst>
              <a:ext uri="{FF2B5EF4-FFF2-40B4-BE49-F238E27FC236}">
                <a16:creationId xmlns:a16="http://schemas.microsoft.com/office/drawing/2014/main" id="{C431ED9A-121D-BEA8-A708-F7805AB1A2F3}"/>
              </a:ext>
            </a:extLst>
          </p:cNvPr>
          <p:cNvSpPr txBox="1"/>
          <p:nvPr/>
        </p:nvSpPr>
        <p:spPr>
          <a:xfrm>
            <a:off x="353962" y="721699"/>
            <a:ext cx="883575" cy="307777"/>
          </a:xfrm>
          <a:prstGeom prst="rect">
            <a:avLst/>
          </a:prstGeom>
          <a:noFill/>
        </p:spPr>
        <p:txBody>
          <a:bodyPr wrap="none" rtlCol="0">
            <a:spAutoFit/>
          </a:bodyPr>
          <a:lstStyle/>
          <a:p>
            <a:r>
              <a:rPr lang="en-IN" b="1" dirty="0"/>
              <a:t>QUERY:</a:t>
            </a:r>
          </a:p>
        </p:txBody>
      </p:sp>
      <p:sp>
        <p:nvSpPr>
          <p:cNvPr id="8" name="TextBox 7">
            <a:extLst>
              <a:ext uri="{FF2B5EF4-FFF2-40B4-BE49-F238E27FC236}">
                <a16:creationId xmlns:a16="http://schemas.microsoft.com/office/drawing/2014/main" id="{B26F7301-CB17-B895-156B-E46123EBA58B}"/>
              </a:ext>
            </a:extLst>
          </p:cNvPr>
          <p:cNvSpPr txBox="1"/>
          <p:nvPr/>
        </p:nvSpPr>
        <p:spPr>
          <a:xfrm>
            <a:off x="353962" y="3248589"/>
            <a:ext cx="962123" cy="307777"/>
          </a:xfrm>
          <a:prstGeom prst="rect">
            <a:avLst/>
          </a:prstGeom>
          <a:noFill/>
        </p:spPr>
        <p:txBody>
          <a:bodyPr wrap="none" rtlCol="0">
            <a:spAutoFit/>
          </a:bodyPr>
          <a:lstStyle/>
          <a:p>
            <a:r>
              <a:rPr lang="en-IN" b="1" dirty="0"/>
              <a:t>RESULT:</a:t>
            </a:r>
          </a:p>
        </p:txBody>
      </p:sp>
      <p:pic>
        <p:nvPicPr>
          <p:cNvPr id="11" name="Picture 10">
            <a:extLst>
              <a:ext uri="{FF2B5EF4-FFF2-40B4-BE49-F238E27FC236}">
                <a16:creationId xmlns:a16="http://schemas.microsoft.com/office/drawing/2014/main" id="{1A861A6E-C77A-5A9B-A43F-43D50AA1C7F2}"/>
              </a:ext>
            </a:extLst>
          </p:cNvPr>
          <p:cNvPicPr>
            <a:picLocks noChangeAspect="1"/>
          </p:cNvPicPr>
          <p:nvPr/>
        </p:nvPicPr>
        <p:blipFill>
          <a:blip r:embed="rId3"/>
          <a:stretch>
            <a:fillRect/>
          </a:stretch>
        </p:blipFill>
        <p:spPr>
          <a:xfrm>
            <a:off x="609601" y="3777979"/>
            <a:ext cx="5982218" cy="1997500"/>
          </a:xfrm>
          <a:prstGeom prst="rect">
            <a:avLst/>
          </a:prstGeom>
        </p:spPr>
      </p:pic>
    </p:spTree>
    <p:extLst>
      <p:ext uri="{BB962C8B-B14F-4D97-AF65-F5344CB8AC3E}">
        <p14:creationId xmlns:p14="http://schemas.microsoft.com/office/powerpoint/2010/main" val="1097338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6E982-E193-1A85-4A65-2285492243B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BCF1957-0755-119A-729D-13AFDCB556DA}"/>
              </a:ext>
            </a:extLst>
          </p:cNvPr>
          <p:cNvSpPr txBox="1"/>
          <p:nvPr/>
        </p:nvSpPr>
        <p:spPr>
          <a:xfrm>
            <a:off x="235976" y="136058"/>
            <a:ext cx="10140918" cy="523220"/>
          </a:xfrm>
          <a:prstGeom prst="rect">
            <a:avLst/>
          </a:prstGeom>
          <a:noFill/>
        </p:spPr>
        <p:txBody>
          <a:bodyPr wrap="none" rtlCol="0">
            <a:spAutoFit/>
          </a:bodyPr>
          <a:lstStyle/>
          <a:p>
            <a:r>
              <a:rPr lang="en-IN" b="1" dirty="0"/>
              <a:t>3.</a:t>
            </a:r>
            <a:r>
              <a:rPr lang="en-US" b="1" dirty="0"/>
              <a:t> For each book authored by "Stephen King", retrieve the title and the number of copies owned by the library branch</a:t>
            </a:r>
          </a:p>
          <a:p>
            <a:r>
              <a:rPr lang="en-US" b="1" dirty="0"/>
              <a:t>    whose name is "Central"</a:t>
            </a:r>
            <a:endParaRPr lang="en-IN" b="1" dirty="0"/>
          </a:p>
        </p:txBody>
      </p:sp>
      <p:sp>
        <p:nvSpPr>
          <p:cNvPr id="7" name="TextBox 6">
            <a:extLst>
              <a:ext uri="{FF2B5EF4-FFF2-40B4-BE49-F238E27FC236}">
                <a16:creationId xmlns:a16="http://schemas.microsoft.com/office/drawing/2014/main" id="{54803E8F-1602-9C99-7B12-E9EADE53A142}"/>
              </a:ext>
            </a:extLst>
          </p:cNvPr>
          <p:cNvSpPr txBox="1"/>
          <p:nvPr/>
        </p:nvSpPr>
        <p:spPr>
          <a:xfrm>
            <a:off x="353962" y="721699"/>
            <a:ext cx="883575" cy="307777"/>
          </a:xfrm>
          <a:prstGeom prst="rect">
            <a:avLst/>
          </a:prstGeom>
          <a:noFill/>
        </p:spPr>
        <p:txBody>
          <a:bodyPr wrap="none" rtlCol="0">
            <a:spAutoFit/>
          </a:bodyPr>
          <a:lstStyle/>
          <a:p>
            <a:r>
              <a:rPr lang="en-IN" b="1" dirty="0"/>
              <a:t>QUERY:</a:t>
            </a:r>
          </a:p>
        </p:txBody>
      </p:sp>
      <p:sp>
        <p:nvSpPr>
          <p:cNvPr id="8" name="TextBox 7">
            <a:extLst>
              <a:ext uri="{FF2B5EF4-FFF2-40B4-BE49-F238E27FC236}">
                <a16:creationId xmlns:a16="http://schemas.microsoft.com/office/drawing/2014/main" id="{ECFEB6DE-0537-06E6-A2C6-63AA11E448E7}"/>
              </a:ext>
            </a:extLst>
          </p:cNvPr>
          <p:cNvSpPr txBox="1"/>
          <p:nvPr/>
        </p:nvSpPr>
        <p:spPr>
          <a:xfrm>
            <a:off x="353962" y="3470204"/>
            <a:ext cx="962123" cy="307777"/>
          </a:xfrm>
          <a:prstGeom prst="rect">
            <a:avLst/>
          </a:prstGeom>
          <a:noFill/>
        </p:spPr>
        <p:txBody>
          <a:bodyPr wrap="none" rtlCol="0">
            <a:spAutoFit/>
          </a:bodyPr>
          <a:lstStyle/>
          <a:p>
            <a:r>
              <a:rPr lang="en-IN" b="1" dirty="0"/>
              <a:t>RESULT:</a:t>
            </a:r>
          </a:p>
        </p:txBody>
      </p:sp>
      <p:pic>
        <p:nvPicPr>
          <p:cNvPr id="6" name="Picture 5">
            <a:extLst>
              <a:ext uri="{FF2B5EF4-FFF2-40B4-BE49-F238E27FC236}">
                <a16:creationId xmlns:a16="http://schemas.microsoft.com/office/drawing/2014/main" id="{AD98CD44-25DE-7FD2-1C7B-37BBFBFA157C}"/>
              </a:ext>
            </a:extLst>
          </p:cNvPr>
          <p:cNvPicPr>
            <a:picLocks noChangeAspect="1"/>
          </p:cNvPicPr>
          <p:nvPr/>
        </p:nvPicPr>
        <p:blipFill>
          <a:blip r:embed="rId2"/>
          <a:stretch>
            <a:fillRect/>
          </a:stretch>
        </p:blipFill>
        <p:spPr>
          <a:xfrm>
            <a:off x="606617" y="1072337"/>
            <a:ext cx="6747912" cy="2231302"/>
          </a:xfrm>
          <a:prstGeom prst="rect">
            <a:avLst/>
          </a:prstGeom>
        </p:spPr>
      </p:pic>
      <p:pic>
        <p:nvPicPr>
          <p:cNvPr id="12" name="Picture 11">
            <a:extLst>
              <a:ext uri="{FF2B5EF4-FFF2-40B4-BE49-F238E27FC236}">
                <a16:creationId xmlns:a16="http://schemas.microsoft.com/office/drawing/2014/main" id="{AA4DADBB-F7BD-5055-DCD0-E2A01A0C2F4D}"/>
              </a:ext>
            </a:extLst>
          </p:cNvPr>
          <p:cNvPicPr>
            <a:picLocks noChangeAspect="1"/>
          </p:cNvPicPr>
          <p:nvPr/>
        </p:nvPicPr>
        <p:blipFill>
          <a:blip r:embed="rId3"/>
          <a:stretch>
            <a:fillRect/>
          </a:stretch>
        </p:blipFill>
        <p:spPr>
          <a:xfrm>
            <a:off x="606617" y="4053284"/>
            <a:ext cx="6659422" cy="1905064"/>
          </a:xfrm>
          <a:prstGeom prst="rect">
            <a:avLst/>
          </a:prstGeom>
        </p:spPr>
      </p:pic>
    </p:spTree>
    <p:extLst>
      <p:ext uri="{BB962C8B-B14F-4D97-AF65-F5344CB8AC3E}">
        <p14:creationId xmlns:p14="http://schemas.microsoft.com/office/powerpoint/2010/main" val="2434139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3C1D5-838B-9193-11D7-71DAC6B146D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4DB488-9841-98EA-2EB6-3C55B46C1FA3}"/>
              </a:ext>
            </a:extLst>
          </p:cNvPr>
          <p:cNvSpPr txBox="1"/>
          <p:nvPr/>
        </p:nvSpPr>
        <p:spPr>
          <a:xfrm>
            <a:off x="235976" y="136058"/>
            <a:ext cx="5952270" cy="307777"/>
          </a:xfrm>
          <a:prstGeom prst="rect">
            <a:avLst/>
          </a:prstGeom>
          <a:noFill/>
        </p:spPr>
        <p:txBody>
          <a:bodyPr wrap="none" rtlCol="0">
            <a:spAutoFit/>
          </a:bodyPr>
          <a:lstStyle/>
          <a:p>
            <a:r>
              <a:rPr lang="en-IN" b="1" dirty="0"/>
              <a:t>4.</a:t>
            </a:r>
            <a:r>
              <a:rPr lang="en-US" b="1" dirty="0"/>
              <a:t> Which books are borrowed the most across all library branches? </a:t>
            </a:r>
            <a:endParaRPr lang="en-IN" b="1" dirty="0"/>
          </a:p>
        </p:txBody>
      </p:sp>
      <p:sp>
        <p:nvSpPr>
          <p:cNvPr id="7" name="TextBox 6">
            <a:extLst>
              <a:ext uri="{FF2B5EF4-FFF2-40B4-BE49-F238E27FC236}">
                <a16:creationId xmlns:a16="http://schemas.microsoft.com/office/drawing/2014/main" id="{12C6D865-CF13-87E3-446E-C06D87A87D0D}"/>
              </a:ext>
            </a:extLst>
          </p:cNvPr>
          <p:cNvSpPr txBox="1"/>
          <p:nvPr/>
        </p:nvSpPr>
        <p:spPr>
          <a:xfrm>
            <a:off x="353962" y="721699"/>
            <a:ext cx="883575" cy="307777"/>
          </a:xfrm>
          <a:prstGeom prst="rect">
            <a:avLst/>
          </a:prstGeom>
          <a:noFill/>
        </p:spPr>
        <p:txBody>
          <a:bodyPr wrap="none" rtlCol="0">
            <a:spAutoFit/>
          </a:bodyPr>
          <a:lstStyle/>
          <a:p>
            <a:r>
              <a:rPr lang="en-IN" b="1" dirty="0"/>
              <a:t>QUERY:</a:t>
            </a:r>
          </a:p>
        </p:txBody>
      </p:sp>
      <p:sp>
        <p:nvSpPr>
          <p:cNvPr id="8" name="TextBox 7">
            <a:extLst>
              <a:ext uri="{FF2B5EF4-FFF2-40B4-BE49-F238E27FC236}">
                <a16:creationId xmlns:a16="http://schemas.microsoft.com/office/drawing/2014/main" id="{C5862018-398D-E70A-67D2-961D4845D10C}"/>
              </a:ext>
            </a:extLst>
          </p:cNvPr>
          <p:cNvSpPr txBox="1"/>
          <p:nvPr/>
        </p:nvSpPr>
        <p:spPr>
          <a:xfrm>
            <a:off x="353962" y="3470204"/>
            <a:ext cx="962123" cy="307777"/>
          </a:xfrm>
          <a:prstGeom prst="rect">
            <a:avLst/>
          </a:prstGeom>
          <a:noFill/>
        </p:spPr>
        <p:txBody>
          <a:bodyPr wrap="none" rtlCol="0">
            <a:spAutoFit/>
          </a:bodyPr>
          <a:lstStyle/>
          <a:p>
            <a:r>
              <a:rPr lang="en-IN" b="1" dirty="0"/>
              <a:t>RESULT:</a:t>
            </a:r>
          </a:p>
        </p:txBody>
      </p:sp>
      <p:pic>
        <p:nvPicPr>
          <p:cNvPr id="5" name="Picture 4">
            <a:extLst>
              <a:ext uri="{FF2B5EF4-FFF2-40B4-BE49-F238E27FC236}">
                <a16:creationId xmlns:a16="http://schemas.microsoft.com/office/drawing/2014/main" id="{EA324A13-E73C-8ECC-E58C-C39F0BF80DDC}"/>
              </a:ext>
            </a:extLst>
          </p:cNvPr>
          <p:cNvPicPr>
            <a:picLocks noChangeAspect="1"/>
          </p:cNvPicPr>
          <p:nvPr/>
        </p:nvPicPr>
        <p:blipFill>
          <a:blip r:embed="rId2"/>
          <a:stretch>
            <a:fillRect/>
          </a:stretch>
        </p:blipFill>
        <p:spPr>
          <a:xfrm>
            <a:off x="606617" y="1143562"/>
            <a:ext cx="7052712" cy="1905064"/>
          </a:xfrm>
          <a:prstGeom prst="rect">
            <a:avLst/>
          </a:prstGeom>
        </p:spPr>
      </p:pic>
      <p:pic>
        <p:nvPicPr>
          <p:cNvPr id="11" name="Picture 10">
            <a:extLst>
              <a:ext uri="{FF2B5EF4-FFF2-40B4-BE49-F238E27FC236}">
                <a16:creationId xmlns:a16="http://schemas.microsoft.com/office/drawing/2014/main" id="{67AD0D68-6E69-7D10-4707-1D1D43855F67}"/>
              </a:ext>
            </a:extLst>
          </p:cNvPr>
          <p:cNvPicPr>
            <a:picLocks noChangeAspect="1"/>
          </p:cNvPicPr>
          <p:nvPr/>
        </p:nvPicPr>
        <p:blipFill>
          <a:blip r:embed="rId3"/>
          <a:stretch>
            <a:fillRect/>
          </a:stretch>
        </p:blipFill>
        <p:spPr>
          <a:xfrm>
            <a:off x="737421" y="3924582"/>
            <a:ext cx="6853082" cy="2633533"/>
          </a:xfrm>
          <a:prstGeom prst="rect">
            <a:avLst/>
          </a:prstGeom>
        </p:spPr>
      </p:pic>
    </p:spTree>
    <p:extLst>
      <p:ext uri="{BB962C8B-B14F-4D97-AF65-F5344CB8AC3E}">
        <p14:creationId xmlns:p14="http://schemas.microsoft.com/office/powerpoint/2010/main" val="4002484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CB4AD-EA77-6E28-FC1A-ACC7A9D4A7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A32474-120C-BFDB-99E4-8D71A59BA0D1}"/>
              </a:ext>
            </a:extLst>
          </p:cNvPr>
          <p:cNvSpPr txBox="1"/>
          <p:nvPr/>
        </p:nvSpPr>
        <p:spPr>
          <a:xfrm>
            <a:off x="235976" y="136058"/>
            <a:ext cx="4814138" cy="307777"/>
          </a:xfrm>
          <a:prstGeom prst="rect">
            <a:avLst/>
          </a:prstGeom>
          <a:noFill/>
        </p:spPr>
        <p:txBody>
          <a:bodyPr wrap="none" rtlCol="0">
            <a:spAutoFit/>
          </a:bodyPr>
          <a:lstStyle/>
          <a:p>
            <a:r>
              <a:rPr lang="en-IN" b="1" dirty="0"/>
              <a:t>5.</a:t>
            </a:r>
            <a:r>
              <a:rPr lang="en-US" b="1" dirty="0"/>
              <a:t> Which books have the lowest borrowing frequency?</a:t>
            </a:r>
            <a:endParaRPr lang="en-IN" b="1" dirty="0"/>
          </a:p>
        </p:txBody>
      </p:sp>
      <p:sp>
        <p:nvSpPr>
          <p:cNvPr id="7" name="TextBox 6">
            <a:extLst>
              <a:ext uri="{FF2B5EF4-FFF2-40B4-BE49-F238E27FC236}">
                <a16:creationId xmlns:a16="http://schemas.microsoft.com/office/drawing/2014/main" id="{3C7EE66B-C76D-CC69-0648-BEF05603193E}"/>
              </a:ext>
            </a:extLst>
          </p:cNvPr>
          <p:cNvSpPr txBox="1"/>
          <p:nvPr/>
        </p:nvSpPr>
        <p:spPr>
          <a:xfrm>
            <a:off x="353962" y="721699"/>
            <a:ext cx="883575" cy="307777"/>
          </a:xfrm>
          <a:prstGeom prst="rect">
            <a:avLst/>
          </a:prstGeom>
          <a:noFill/>
        </p:spPr>
        <p:txBody>
          <a:bodyPr wrap="none" rtlCol="0">
            <a:spAutoFit/>
          </a:bodyPr>
          <a:lstStyle/>
          <a:p>
            <a:r>
              <a:rPr lang="en-IN" b="1" dirty="0"/>
              <a:t>QUERY:</a:t>
            </a:r>
          </a:p>
        </p:txBody>
      </p:sp>
      <p:sp>
        <p:nvSpPr>
          <p:cNvPr id="8" name="TextBox 7">
            <a:extLst>
              <a:ext uri="{FF2B5EF4-FFF2-40B4-BE49-F238E27FC236}">
                <a16:creationId xmlns:a16="http://schemas.microsoft.com/office/drawing/2014/main" id="{60D190EE-8F3C-81DB-11CE-5EABDB041627}"/>
              </a:ext>
            </a:extLst>
          </p:cNvPr>
          <p:cNvSpPr txBox="1"/>
          <p:nvPr/>
        </p:nvSpPr>
        <p:spPr>
          <a:xfrm>
            <a:off x="353962" y="3470204"/>
            <a:ext cx="962123" cy="307777"/>
          </a:xfrm>
          <a:prstGeom prst="rect">
            <a:avLst/>
          </a:prstGeom>
          <a:noFill/>
        </p:spPr>
        <p:txBody>
          <a:bodyPr wrap="none" rtlCol="0">
            <a:spAutoFit/>
          </a:bodyPr>
          <a:lstStyle/>
          <a:p>
            <a:r>
              <a:rPr lang="en-IN" b="1" dirty="0"/>
              <a:t>RESULT:</a:t>
            </a:r>
          </a:p>
        </p:txBody>
      </p:sp>
      <p:pic>
        <p:nvPicPr>
          <p:cNvPr id="6" name="Picture 5">
            <a:extLst>
              <a:ext uri="{FF2B5EF4-FFF2-40B4-BE49-F238E27FC236}">
                <a16:creationId xmlns:a16="http://schemas.microsoft.com/office/drawing/2014/main" id="{FAB72B3D-3C12-D3F2-63A2-3F081C037DD7}"/>
              </a:ext>
            </a:extLst>
          </p:cNvPr>
          <p:cNvPicPr>
            <a:picLocks noChangeAspect="1"/>
          </p:cNvPicPr>
          <p:nvPr/>
        </p:nvPicPr>
        <p:blipFill>
          <a:blip r:embed="rId2"/>
          <a:stretch>
            <a:fillRect/>
          </a:stretch>
        </p:blipFill>
        <p:spPr>
          <a:xfrm>
            <a:off x="583276" y="1104080"/>
            <a:ext cx="6574608" cy="2130733"/>
          </a:xfrm>
          <a:prstGeom prst="rect">
            <a:avLst/>
          </a:prstGeom>
        </p:spPr>
      </p:pic>
      <p:pic>
        <p:nvPicPr>
          <p:cNvPr id="12" name="Picture 11">
            <a:extLst>
              <a:ext uri="{FF2B5EF4-FFF2-40B4-BE49-F238E27FC236}">
                <a16:creationId xmlns:a16="http://schemas.microsoft.com/office/drawing/2014/main" id="{74E0DFF9-4BD8-4C7E-EAE3-0107EEA97666}"/>
              </a:ext>
            </a:extLst>
          </p:cNvPr>
          <p:cNvPicPr>
            <a:picLocks noChangeAspect="1"/>
          </p:cNvPicPr>
          <p:nvPr/>
        </p:nvPicPr>
        <p:blipFill>
          <a:blip r:embed="rId3"/>
          <a:stretch>
            <a:fillRect/>
          </a:stretch>
        </p:blipFill>
        <p:spPr>
          <a:xfrm>
            <a:off x="583276" y="3869444"/>
            <a:ext cx="6574608" cy="2462530"/>
          </a:xfrm>
          <a:prstGeom prst="rect">
            <a:avLst/>
          </a:prstGeom>
        </p:spPr>
      </p:pic>
    </p:spTree>
    <p:extLst>
      <p:ext uri="{BB962C8B-B14F-4D97-AF65-F5344CB8AC3E}">
        <p14:creationId xmlns:p14="http://schemas.microsoft.com/office/powerpoint/2010/main" val="548794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241AD-F9B3-D890-BBC5-A8BD5331C10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BD50EC-8467-EE05-CEFB-1E738494D8D4}"/>
              </a:ext>
            </a:extLst>
          </p:cNvPr>
          <p:cNvSpPr txBox="1"/>
          <p:nvPr/>
        </p:nvSpPr>
        <p:spPr>
          <a:xfrm>
            <a:off x="3873895" y="78464"/>
            <a:ext cx="3185487" cy="338554"/>
          </a:xfrm>
          <a:prstGeom prst="rect">
            <a:avLst/>
          </a:prstGeom>
          <a:noFill/>
        </p:spPr>
        <p:txBody>
          <a:bodyPr wrap="none" rtlCol="0">
            <a:spAutoFit/>
          </a:bodyPr>
          <a:lstStyle/>
          <a:p>
            <a:r>
              <a:rPr lang="en-IN" sz="1600" b="1" dirty="0">
                <a:solidFill>
                  <a:schemeClr val="accent2"/>
                </a:solidFill>
              </a:rPr>
              <a:t>Module 2 – Borrower Analytics</a:t>
            </a:r>
          </a:p>
        </p:txBody>
      </p:sp>
      <p:sp>
        <p:nvSpPr>
          <p:cNvPr id="5" name="TextBox 4">
            <a:extLst>
              <a:ext uri="{FF2B5EF4-FFF2-40B4-BE49-F238E27FC236}">
                <a16:creationId xmlns:a16="http://schemas.microsoft.com/office/drawing/2014/main" id="{1EB0BA96-B0CD-91CB-5A60-755CD8571BA9}"/>
              </a:ext>
            </a:extLst>
          </p:cNvPr>
          <p:cNvSpPr txBox="1"/>
          <p:nvPr/>
        </p:nvSpPr>
        <p:spPr>
          <a:xfrm>
            <a:off x="110705" y="554742"/>
            <a:ext cx="6500497" cy="307777"/>
          </a:xfrm>
          <a:prstGeom prst="rect">
            <a:avLst/>
          </a:prstGeom>
          <a:noFill/>
        </p:spPr>
        <p:txBody>
          <a:bodyPr wrap="none" rtlCol="0">
            <a:spAutoFit/>
          </a:bodyPr>
          <a:lstStyle/>
          <a:p>
            <a:r>
              <a:rPr lang="en-IN" dirty="0"/>
              <a:t>1.</a:t>
            </a:r>
            <a:r>
              <a:rPr lang="en-US" dirty="0"/>
              <a:t> Retrieve the names of all borrowers who do not have any books checked out.</a:t>
            </a:r>
            <a:endParaRPr lang="en-IN" dirty="0"/>
          </a:p>
        </p:txBody>
      </p:sp>
      <p:sp>
        <p:nvSpPr>
          <p:cNvPr id="6" name="TextBox 5">
            <a:extLst>
              <a:ext uri="{FF2B5EF4-FFF2-40B4-BE49-F238E27FC236}">
                <a16:creationId xmlns:a16="http://schemas.microsoft.com/office/drawing/2014/main" id="{6A740E47-34CF-882E-7094-C71568C10C22}"/>
              </a:ext>
            </a:extLst>
          </p:cNvPr>
          <p:cNvSpPr txBox="1"/>
          <p:nvPr/>
        </p:nvSpPr>
        <p:spPr>
          <a:xfrm>
            <a:off x="185412" y="1000243"/>
            <a:ext cx="883575" cy="307777"/>
          </a:xfrm>
          <a:prstGeom prst="rect">
            <a:avLst/>
          </a:prstGeom>
          <a:noFill/>
        </p:spPr>
        <p:txBody>
          <a:bodyPr wrap="none" rtlCol="0">
            <a:spAutoFit/>
          </a:bodyPr>
          <a:lstStyle/>
          <a:p>
            <a:r>
              <a:rPr lang="en-IN" b="1" dirty="0"/>
              <a:t>QUERY:</a:t>
            </a:r>
          </a:p>
        </p:txBody>
      </p:sp>
      <p:sp>
        <p:nvSpPr>
          <p:cNvPr id="10" name="TextBox 9">
            <a:extLst>
              <a:ext uri="{FF2B5EF4-FFF2-40B4-BE49-F238E27FC236}">
                <a16:creationId xmlns:a16="http://schemas.microsoft.com/office/drawing/2014/main" id="{EAD3CE09-AD92-12EA-0119-8FBA949987A6}"/>
              </a:ext>
            </a:extLst>
          </p:cNvPr>
          <p:cNvSpPr txBox="1"/>
          <p:nvPr/>
        </p:nvSpPr>
        <p:spPr>
          <a:xfrm>
            <a:off x="185412" y="3429000"/>
            <a:ext cx="978291" cy="307777"/>
          </a:xfrm>
          <a:prstGeom prst="rect">
            <a:avLst/>
          </a:prstGeom>
          <a:noFill/>
        </p:spPr>
        <p:txBody>
          <a:bodyPr wrap="square" rtlCol="0">
            <a:spAutoFit/>
          </a:bodyPr>
          <a:lstStyle/>
          <a:p>
            <a:r>
              <a:rPr lang="en-IN" b="1" dirty="0"/>
              <a:t>RESULT:</a:t>
            </a:r>
          </a:p>
        </p:txBody>
      </p:sp>
      <p:pic>
        <p:nvPicPr>
          <p:cNvPr id="8" name="Picture 7">
            <a:extLst>
              <a:ext uri="{FF2B5EF4-FFF2-40B4-BE49-F238E27FC236}">
                <a16:creationId xmlns:a16="http://schemas.microsoft.com/office/drawing/2014/main" id="{404AFDAE-B0ED-DB05-EDAC-A3FB54BA4304}"/>
              </a:ext>
            </a:extLst>
          </p:cNvPr>
          <p:cNvPicPr>
            <a:picLocks noChangeAspect="1"/>
          </p:cNvPicPr>
          <p:nvPr/>
        </p:nvPicPr>
        <p:blipFill>
          <a:blip r:embed="rId2"/>
          <a:stretch>
            <a:fillRect/>
          </a:stretch>
        </p:blipFill>
        <p:spPr>
          <a:xfrm>
            <a:off x="389934" y="1432558"/>
            <a:ext cx="4585189" cy="1996442"/>
          </a:xfrm>
          <a:prstGeom prst="rect">
            <a:avLst/>
          </a:prstGeom>
        </p:spPr>
      </p:pic>
      <p:pic>
        <p:nvPicPr>
          <p:cNvPr id="14" name="Picture 13">
            <a:extLst>
              <a:ext uri="{FF2B5EF4-FFF2-40B4-BE49-F238E27FC236}">
                <a16:creationId xmlns:a16="http://schemas.microsoft.com/office/drawing/2014/main" id="{582E899E-D8B8-A005-1F49-E681F3890C62}"/>
              </a:ext>
            </a:extLst>
          </p:cNvPr>
          <p:cNvPicPr>
            <a:picLocks noChangeAspect="1"/>
          </p:cNvPicPr>
          <p:nvPr/>
        </p:nvPicPr>
        <p:blipFill>
          <a:blip r:embed="rId3"/>
          <a:stretch>
            <a:fillRect/>
          </a:stretch>
        </p:blipFill>
        <p:spPr>
          <a:xfrm>
            <a:off x="389934" y="3822511"/>
            <a:ext cx="5804388" cy="2035245"/>
          </a:xfrm>
          <a:prstGeom prst="rect">
            <a:avLst/>
          </a:prstGeom>
        </p:spPr>
      </p:pic>
    </p:spTree>
    <p:extLst>
      <p:ext uri="{BB962C8B-B14F-4D97-AF65-F5344CB8AC3E}">
        <p14:creationId xmlns:p14="http://schemas.microsoft.com/office/powerpoint/2010/main" val="1566794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3AEE3-DD33-5E5C-8905-9AF17030BA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538E4B-920C-2046-F73A-5EB328AE099E}"/>
              </a:ext>
            </a:extLst>
          </p:cNvPr>
          <p:cNvSpPr txBox="1"/>
          <p:nvPr/>
        </p:nvSpPr>
        <p:spPr>
          <a:xfrm>
            <a:off x="235976" y="136058"/>
            <a:ext cx="11285462" cy="307777"/>
          </a:xfrm>
          <a:prstGeom prst="rect">
            <a:avLst/>
          </a:prstGeom>
          <a:noFill/>
        </p:spPr>
        <p:txBody>
          <a:bodyPr wrap="none" rtlCol="0">
            <a:spAutoFit/>
          </a:bodyPr>
          <a:lstStyle/>
          <a:p>
            <a:r>
              <a:rPr lang="en-IN" b="1" dirty="0"/>
              <a:t>2.</a:t>
            </a:r>
            <a:r>
              <a:rPr lang="en-US" b="1" dirty="0"/>
              <a:t> Retrieve the names, addresses, and number of books checked out for all borrowers who have more than five books checked out</a:t>
            </a:r>
            <a:endParaRPr lang="en-IN" b="1" dirty="0"/>
          </a:p>
        </p:txBody>
      </p:sp>
      <p:sp>
        <p:nvSpPr>
          <p:cNvPr id="7" name="TextBox 6">
            <a:extLst>
              <a:ext uri="{FF2B5EF4-FFF2-40B4-BE49-F238E27FC236}">
                <a16:creationId xmlns:a16="http://schemas.microsoft.com/office/drawing/2014/main" id="{28AC602A-BAB7-338C-B3D5-B547B0DAAE9E}"/>
              </a:ext>
            </a:extLst>
          </p:cNvPr>
          <p:cNvSpPr txBox="1"/>
          <p:nvPr/>
        </p:nvSpPr>
        <p:spPr>
          <a:xfrm>
            <a:off x="353962" y="721699"/>
            <a:ext cx="883575" cy="307777"/>
          </a:xfrm>
          <a:prstGeom prst="rect">
            <a:avLst/>
          </a:prstGeom>
          <a:noFill/>
        </p:spPr>
        <p:txBody>
          <a:bodyPr wrap="none" rtlCol="0">
            <a:spAutoFit/>
          </a:bodyPr>
          <a:lstStyle/>
          <a:p>
            <a:r>
              <a:rPr lang="en-IN" b="1" dirty="0"/>
              <a:t>QUERY:</a:t>
            </a:r>
          </a:p>
        </p:txBody>
      </p:sp>
      <p:sp>
        <p:nvSpPr>
          <p:cNvPr id="8" name="TextBox 7">
            <a:extLst>
              <a:ext uri="{FF2B5EF4-FFF2-40B4-BE49-F238E27FC236}">
                <a16:creationId xmlns:a16="http://schemas.microsoft.com/office/drawing/2014/main" id="{EBA8DCE2-4399-74EE-6952-F5D3648F18E9}"/>
              </a:ext>
            </a:extLst>
          </p:cNvPr>
          <p:cNvSpPr txBox="1"/>
          <p:nvPr/>
        </p:nvSpPr>
        <p:spPr>
          <a:xfrm>
            <a:off x="353962" y="3470204"/>
            <a:ext cx="962123" cy="307777"/>
          </a:xfrm>
          <a:prstGeom prst="rect">
            <a:avLst/>
          </a:prstGeom>
          <a:noFill/>
        </p:spPr>
        <p:txBody>
          <a:bodyPr wrap="none" rtlCol="0">
            <a:spAutoFit/>
          </a:bodyPr>
          <a:lstStyle/>
          <a:p>
            <a:r>
              <a:rPr lang="en-IN" b="1" dirty="0"/>
              <a:t>RESULT:</a:t>
            </a:r>
          </a:p>
        </p:txBody>
      </p:sp>
      <p:pic>
        <p:nvPicPr>
          <p:cNvPr id="5" name="Picture 4">
            <a:extLst>
              <a:ext uri="{FF2B5EF4-FFF2-40B4-BE49-F238E27FC236}">
                <a16:creationId xmlns:a16="http://schemas.microsoft.com/office/drawing/2014/main" id="{275A26C9-0A81-AF28-8EC8-18E84B5BE3D6}"/>
              </a:ext>
            </a:extLst>
          </p:cNvPr>
          <p:cNvPicPr>
            <a:picLocks noChangeAspect="1"/>
          </p:cNvPicPr>
          <p:nvPr/>
        </p:nvPicPr>
        <p:blipFill>
          <a:blip r:embed="rId2"/>
          <a:stretch>
            <a:fillRect/>
          </a:stretch>
        </p:blipFill>
        <p:spPr>
          <a:xfrm>
            <a:off x="583276" y="1066885"/>
            <a:ext cx="9386634" cy="2167928"/>
          </a:xfrm>
          <a:prstGeom prst="rect">
            <a:avLst/>
          </a:prstGeom>
        </p:spPr>
      </p:pic>
      <p:pic>
        <p:nvPicPr>
          <p:cNvPr id="11" name="Picture 10">
            <a:extLst>
              <a:ext uri="{FF2B5EF4-FFF2-40B4-BE49-F238E27FC236}">
                <a16:creationId xmlns:a16="http://schemas.microsoft.com/office/drawing/2014/main" id="{8FA7B9A5-C6BF-0DA5-F171-F042E983B7B3}"/>
              </a:ext>
            </a:extLst>
          </p:cNvPr>
          <p:cNvPicPr>
            <a:picLocks noChangeAspect="1"/>
          </p:cNvPicPr>
          <p:nvPr/>
        </p:nvPicPr>
        <p:blipFill>
          <a:blip r:embed="rId3"/>
          <a:stretch>
            <a:fillRect/>
          </a:stretch>
        </p:blipFill>
        <p:spPr>
          <a:xfrm>
            <a:off x="583276" y="4029478"/>
            <a:ext cx="6505782" cy="2331993"/>
          </a:xfrm>
          <a:prstGeom prst="rect">
            <a:avLst/>
          </a:prstGeom>
        </p:spPr>
      </p:pic>
    </p:spTree>
    <p:extLst>
      <p:ext uri="{BB962C8B-B14F-4D97-AF65-F5344CB8AC3E}">
        <p14:creationId xmlns:p14="http://schemas.microsoft.com/office/powerpoint/2010/main" val="4233858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8C66D-D3B6-8A70-585F-77090B6173A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37D7B8-3B5C-8B49-4CD3-5B45DA9A04DF}"/>
              </a:ext>
            </a:extLst>
          </p:cNvPr>
          <p:cNvSpPr txBox="1"/>
          <p:nvPr/>
        </p:nvSpPr>
        <p:spPr>
          <a:xfrm>
            <a:off x="235976" y="136058"/>
            <a:ext cx="6822702" cy="307777"/>
          </a:xfrm>
          <a:prstGeom prst="rect">
            <a:avLst/>
          </a:prstGeom>
          <a:noFill/>
        </p:spPr>
        <p:txBody>
          <a:bodyPr wrap="none" rtlCol="0">
            <a:spAutoFit/>
          </a:bodyPr>
          <a:lstStyle/>
          <a:p>
            <a:r>
              <a:rPr lang="en-IN" b="1" dirty="0"/>
              <a:t>3.</a:t>
            </a:r>
            <a:r>
              <a:rPr lang="en-US" b="1" dirty="0"/>
              <a:t> Which borrowers currently have the highest number of books checked out?</a:t>
            </a:r>
            <a:endParaRPr lang="en-IN" b="1" dirty="0"/>
          </a:p>
        </p:txBody>
      </p:sp>
      <p:sp>
        <p:nvSpPr>
          <p:cNvPr id="7" name="TextBox 6">
            <a:extLst>
              <a:ext uri="{FF2B5EF4-FFF2-40B4-BE49-F238E27FC236}">
                <a16:creationId xmlns:a16="http://schemas.microsoft.com/office/drawing/2014/main" id="{D0E312BA-A07A-F0BD-24AD-155B60F134FC}"/>
              </a:ext>
            </a:extLst>
          </p:cNvPr>
          <p:cNvSpPr txBox="1"/>
          <p:nvPr/>
        </p:nvSpPr>
        <p:spPr>
          <a:xfrm>
            <a:off x="353962" y="721699"/>
            <a:ext cx="883575" cy="307777"/>
          </a:xfrm>
          <a:prstGeom prst="rect">
            <a:avLst/>
          </a:prstGeom>
          <a:noFill/>
        </p:spPr>
        <p:txBody>
          <a:bodyPr wrap="none" rtlCol="0">
            <a:spAutoFit/>
          </a:bodyPr>
          <a:lstStyle/>
          <a:p>
            <a:r>
              <a:rPr lang="en-IN" b="1" dirty="0"/>
              <a:t>QUERY:</a:t>
            </a:r>
          </a:p>
        </p:txBody>
      </p:sp>
      <p:sp>
        <p:nvSpPr>
          <p:cNvPr id="8" name="TextBox 7">
            <a:extLst>
              <a:ext uri="{FF2B5EF4-FFF2-40B4-BE49-F238E27FC236}">
                <a16:creationId xmlns:a16="http://schemas.microsoft.com/office/drawing/2014/main" id="{FE41EC8E-B8FB-F509-F795-6C190E1E58A6}"/>
              </a:ext>
            </a:extLst>
          </p:cNvPr>
          <p:cNvSpPr txBox="1"/>
          <p:nvPr/>
        </p:nvSpPr>
        <p:spPr>
          <a:xfrm>
            <a:off x="275414" y="3816438"/>
            <a:ext cx="962123" cy="307777"/>
          </a:xfrm>
          <a:prstGeom prst="rect">
            <a:avLst/>
          </a:prstGeom>
          <a:noFill/>
        </p:spPr>
        <p:txBody>
          <a:bodyPr wrap="none" rtlCol="0">
            <a:spAutoFit/>
          </a:bodyPr>
          <a:lstStyle/>
          <a:p>
            <a:r>
              <a:rPr lang="en-IN" b="1" dirty="0"/>
              <a:t>RESULT:</a:t>
            </a:r>
          </a:p>
        </p:txBody>
      </p:sp>
      <p:pic>
        <p:nvPicPr>
          <p:cNvPr id="5" name="Picture 4">
            <a:extLst>
              <a:ext uri="{FF2B5EF4-FFF2-40B4-BE49-F238E27FC236}">
                <a16:creationId xmlns:a16="http://schemas.microsoft.com/office/drawing/2014/main" id="{50F66F3B-9F42-3DA4-7C19-A643C5FD8976}"/>
              </a:ext>
            </a:extLst>
          </p:cNvPr>
          <p:cNvPicPr>
            <a:picLocks noChangeAspect="1"/>
          </p:cNvPicPr>
          <p:nvPr/>
        </p:nvPicPr>
        <p:blipFill>
          <a:blip r:embed="rId2"/>
          <a:stretch>
            <a:fillRect/>
          </a:stretch>
        </p:blipFill>
        <p:spPr>
          <a:xfrm>
            <a:off x="519990" y="1018840"/>
            <a:ext cx="8791158" cy="2410159"/>
          </a:xfrm>
          <a:prstGeom prst="rect">
            <a:avLst/>
          </a:prstGeom>
        </p:spPr>
      </p:pic>
      <p:pic>
        <p:nvPicPr>
          <p:cNvPr id="11" name="Picture 10">
            <a:extLst>
              <a:ext uri="{FF2B5EF4-FFF2-40B4-BE49-F238E27FC236}">
                <a16:creationId xmlns:a16="http://schemas.microsoft.com/office/drawing/2014/main" id="{08D21C63-0FA0-172B-CEC6-AFD87B47F3A2}"/>
              </a:ext>
            </a:extLst>
          </p:cNvPr>
          <p:cNvPicPr>
            <a:picLocks noChangeAspect="1"/>
          </p:cNvPicPr>
          <p:nvPr/>
        </p:nvPicPr>
        <p:blipFill>
          <a:blip r:embed="rId3"/>
          <a:stretch>
            <a:fillRect/>
          </a:stretch>
        </p:blipFill>
        <p:spPr>
          <a:xfrm>
            <a:off x="519990" y="4402079"/>
            <a:ext cx="7562126" cy="2195366"/>
          </a:xfrm>
          <a:prstGeom prst="rect">
            <a:avLst/>
          </a:prstGeom>
        </p:spPr>
      </p:pic>
    </p:spTree>
    <p:extLst>
      <p:ext uri="{BB962C8B-B14F-4D97-AF65-F5344CB8AC3E}">
        <p14:creationId xmlns:p14="http://schemas.microsoft.com/office/powerpoint/2010/main" val="2206789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053C6-D604-4C65-34A4-0F2652D130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63DE3E5-802B-235F-F56A-61EFC119E13F}"/>
              </a:ext>
            </a:extLst>
          </p:cNvPr>
          <p:cNvSpPr txBox="1"/>
          <p:nvPr/>
        </p:nvSpPr>
        <p:spPr>
          <a:xfrm>
            <a:off x="235976" y="136058"/>
            <a:ext cx="4003019" cy="307777"/>
          </a:xfrm>
          <a:prstGeom prst="rect">
            <a:avLst/>
          </a:prstGeom>
          <a:noFill/>
        </p:spPr>
        <p:txBody>
          <a:bodyPr wrap="none" rtlCol="0">
            <a:spAutoFit/>
          </a:bodyPr>
          <a:lstStyle/>
          <a:p>
            <a:r>
              <a:rPr lang="en-IN" b="1" dirty="0"/>
              <a:t>4.</a:t>
            </a:r>
            <a:r>
              <a:rPr lang="en-US" b="1" dirty="0"/>
              <a:t> Who are the Top 5 most active borrowers?</a:t>
            </a:r>
            <a:endParaRPr lang="en-IN" b="1" dirty="0"/>
          </a:p>
        </p:txBody>
      </p:sp>
      <p:sp>
        <p:nvSpPr>
          <p:cNvPr id="7" name="TextBox 6">
            <a:extLst>
              <a:ext uri="{FF2B5EF4-FFF2-40B4-BE49-F238E27FC236}">
                <a16:creationId xmlns:a16="http://schemas.microsoft.com/office/drawing/2014/main" id="{7D02D4E3-8287-D047-CF5C-068310680215}"/>
              </a:ext>
            </a:extLst>
          </p:cNvPr>
          <p:cNvSpPr txBox="1"/>
          <p:nvPr/>
        </p:nvSpPr>
        <p:spPr>
          <a:xfrm>
            <a:off x="353962" y="721699"/>
            <a:ext cx="883575" cy="307777"/>
          </a:xfrm>
          <a:prstGeom prst="rect">
            <a:avLst/>
          </a:prstGeom>
          <a:noFill/>
        </p:spPr>
        <p:txBody>
          <a:bodyPr wrap="none" rtlCol="0">
            <a:spAutoFit/>
          </a:bodyPr>
          <a:lstStyle/>
          <a:p>
            <a:r>
              <a:rPr lang="en-IN" b="1" dirty="0"/>
              <a:t>QUERY:</a:t>
            </a:r>
          </a:p>
        </p:txBody>
      </p:sp>
      <p:sp>
        <p:nvSpPr>
          <p:cNvPr id="8" name="TextBox 7">
            <a:extLst>
              <a:ext uri="{FF2B5EF4-FFF2-40B4-BE49-F238E27FC236}">
                <a16:creationId xmlns:a16="http://schemas.microsoft.com/office/drawing/2014/main" id="{704F0E60-65E5-1B9D-9F6A-C9CB5D5572FA}"/>
              </a:ext>
            </a:extLst>
          </p:cNvPr>
          <p:cNvSpPr txBox="1"/>
          <p:nvPr/>
        </p:nvSpPr>
        <p:spPr>
          <a:xfrm>
            <a:off x="353962" y="3470204"/>
            <a:ext cx="962123" cy="307777"/>
          </a:xfrm>
          <a:prstGeom prst="rect">
            <a:avLst/>
          </a:prstGeom>
          <a:noFill/>
        </p:spPr>
        <p:txBody>
          <a:bodyPr wrap="none" rtlCol="0">
            <a:spAutoFit/>
          </a:bodyPr>
          <a:lstStyle/>
          <a:p>
            <a:r>
              <a:rPr lang="en-IN" b="1" dirty="0"/>
              <a:t>RESULT:</a:t>
            </a:r>
          </a:p>
        </p:txBody>
      </p:sp>
      <p:pic>
        <p:nvPicPr>
          <p:cNvPr id="6" name="Picture 5">
            <a:extLst>
              <a:ext uri="{FF2B5EF4-FFF2-40B4-BE49-F238E27FC236}">
                <a16:creationId xmlns:a16="http://schemas.microsoft.com/office/drawing/2014/main" id="{29946042-70C1-01BA-C065-BAFDD0BF283D}"/>
              </a:ext>
            </a:extLst>
          </p:cNvPr>
          <p:cNvPicPr>
            <a:picLocks noChangeAspect="1"/>
          </p:cNvPicPr>
          <p:nvPr/>
        </p:nvPicPr>
        <p:blipFill>
          <a:blip r:embed="rId2"/>
          <a:stretch>
            <a:fillRect/>
          </a:stretch>
        </p:blipFill>
        <p:spPr>
          <a:xfrm>
            <a:off x="443093" y="1029477"/>
            <a:ext cx="8435435" cy="2189230"/>
          </a:xfrm>
          <a:prstGeom prst="rect">
            <a:avLst/>
          </a:prstGeom>
        </p:spPr>
      </p:pic>
      <p:pic>
        <p:nvPicPr>
          <p:cNvPr id="12" name="Picture 11">
            <a:extLst>
              <a:ext uri="{FF2B5EF4-FFF2-40B4-BE49-F238E27FC236}">
                <a16:creationId xmlns:a16="http://schemas.microsoft.com/office/drawing/2014/main" id="{C6D5F999-0B15-ED45-DF73-EC7C844EA326}"/>
              </a:ext>
            </a:extLst>
          </p:cNvPr>
          <p:cNvPicPr>
            <a:picLocks noChangeAspect="1"/>
          </p:cNvPicPr>
          <p:nvPr/>
        </p:nvPicPr>
        <p:blipFill>
          <a:blip r:embed="rId3"/>
          <a:stretch>
            <a:fillRect/>
          </a:stretch>
        </p:blipFill>
        <p:spPr>
          <a:xfrm>
            <a:off x="519992" y="4003764"/>
            <a:ext cx="6726382" cy="2854236"/>
          </a:xfrm>
          <a:prstGeom prst="rect">
            <a:avLst/>
          </a:prstGeom>
        </p:spPr>
      </p:pic>
    </p:spTree>
    <p:extLst>
      <p:ext uri="{BB962C8B-B14F-4D97-AF65-F5344CB8AC3E}">
        <p14:creationId xmlns:p14="http://schemas.microsoft.com/office/powerpoint/2010/main" val="1138992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731B5-F33A-3352-30CF-778AD008B3E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7DFD7D-3A27-8F66-4D22-9A23CC6FBA50}"/>
              </a:ext>
            </a:extLst>
          </p:cNvPr>
          <p:cNvSpPr txBox="1"/>
          <p:nvPr/>
        </p:nvSpPr>
        <p:spPr>
          <a:xfrm>
            <a:off x="235976" y="136058"/>
            <a:ext cx="5808000" cy="307777"/>
          </a:xfrm>
          <a:prstGeom prst="rect">
            <a:avLst/>
          </a:prstGeom>
          <a:noFill/>
        </p:spPr>
        <p:txBody>
          <a:bodyPr wrap="none" rtlCol="0">
            <a:spAutoFit/>
          </a:bodyPr>
          <a:lstStyle/>
          <a:p>
            <a:r>
              <a:rPr lang="en-IN" b="1" dirty="0"/>
              <a:t>4.</a:t>
            </a:r>
            <a:r>
              <a:rPr lang="en-US" b="1" dirty="0"/>
              <a:t> What is the Average Number of Books Borrowed per Borrower?</a:t>
            </a:r>
            <a:endParaRPr lang="en-IN" b="1" dirty="0"/>
          </a:p>
        </p:txBody>
      </p:sp>
      <p:sp>
        <p:nvSpPr>
          <p:cNvPr id="7" name="TextBox 6">
            <a:extLst>
              <a:ext uri="{FF2B5EF4-FFF2-40B4-BE49-F238E27FC236}">
                <a16:creationId xmlns:a16="http://schemas.microsoft.com/office/drawing/2014/main" id="{0F717A4D-469F-2D87-C5E5-03DE82B5979F}"/>
              </a:ext>
            </a:extLst>
          </p:cNvPr>
          <p:cNvSpPr txBox="1"/>
          <p:nvPr/>
        </p:nvSpPr>
        <p:spPr>
          <a:xfrm>
            <a:off x="353962" y="721699"/>
            <a:ext cx="883575" cy="307777"/>
          </a:xfrm>
          <a:prstGeom prst="rect">
            <a:avLst/>
          </a:prstGeom>
          <a:noFill/>
        </p:spPr>
        <p:txBody>
          <a:bodyPr wrap="none" rtlCol="0">
            <a:spAutoFit/>
          </a:bodyPr>
          <a:lstStyle/>
          <a:p>
            <a:r>
              <a:rPr lang="en-IN" b="1" dirty="0"/>
              <a:t>QUERY:</a:t>
            </a:r>
          </a:p>
        </p:txBody>
      </p:sp>
      <p:sp>
        <p:nvSpPr>
          <p:cNvPr id="8" name="TextBox 7">
            <a:extLst>
              <a:ext uri="{FF2B5EF4-FFF2-40B4-BE49-F238E27FC236}">
                <a16:creationId xmlns:a16="http://schemas.microsoft.com/office/drawing/2014/main" id="{BB7D1651-8924-5248-F12F-0B8FD1C0F65B}"/>
              </a:ext>
            </a:extLst>
          </p:cNvPr>
          <p:cNvSpPr txBox="1"/>
          <p:nvPr/>
        </p:nvSpPr>
        <p:spPr>
          <a:xfrm>
            <a:off x="314687" y="3757377"/>
            <a:ext cx="962123" cy="307777"/>
          </a:xfrm>
          <a:prstGeom prst="rect">
            <a:avLst/>
          </a:prstGeom>
          <a:noFill/>
        </p:spPr>
        <p:txBody>
          <a:bodyPr wrap="none" rtlCol="0">
            <a:spAutoFit/>
          </a:bodyPr>
          <a:lstStyle/>
          <a:p>
            <a:r>
              <a:rPr lang="en-IN" b="1" dirty="0"/>
              <a:t>RESULT:</a:t>
            </a:r>
          </a:p>
        </p:txBody>
      </p:sp>
      <p:pic>
        <p:nvPicPr>
          <p:cNvPr id="5" name="Picture 4">
            <a:extLst>
              <a:ext uri="{FF2B5EF4-FFF2-40B4-BE49-F238E27FC236}">
                <a16:creationId xmlns:a16="http://schemas.microsoft.com/office/drawing/2014/main" id="{C9AC1C22-EDD2-D3F0-F16C-CBCD403E6B20}"/>
              </a:ext>
            </a:extLst>
          </p:cNvPr>
          <p:cNvPicPr>
            <a:picLocks noChangeAspect="1"/>
          </p:cNvPicPr>
          <p:nvPr/>
        </p:nvPicPr>
        <p:blipFill>
          <a:blip r:embed="rId2"/>
          <a:stretch>
            <a:fillRect/>
          </a:stretch>
        </p:blipFill>
        <p:spPr>
          <a:xfrm>
            <a:off x="519992" y="1107373"/>
            <a:ext cx="5576008" cy="2520730"/>
          </a:xfrm>
          <a:prstGeom prst="rect">
            <a:avLst/>
          </a:prstGeom>
        </p:spPr>
      </p:pic>
      <p:pic>
        <p:nvPicPr>
          <p:cNvPr id="11" name="Picture 10">
            <a:extLst>
              <a:ext uri="{FF2B5EF4-FFF2-40B4-BE49-F238E27FC236}">
                <a16:creationId xmlns:a16="http://schemas.microsoft.com/office/drawing/2014/main" id="{02F98370-75C4-5077-E542-E5CD15945824}"/>
              </a:ext>
            </a:extLst>
          </p:cNvPr>
          <p:cNvPicPr>
            <a:picLocks noChangeAspect="1"/>
          </p:cNvPicPr>
          <p:nvPr/>
        </p:nvPicPr>
        <p:blipFill>
          <a:blip r:embed="rId3"/>
          <a:stretch>
            <a:fillRect/>
          </a:stretch>
        </p:blipFill>
        <p:spPr>
          <a:xfrm>
            <a:off x="519991" y="4352326"/>
            <a:ext cx="6087285" cy="1665015"/>
          </a:xfrm>
          <a:prstGeom prst="rect">
            <a:avLst/>
          </a:prstGeom>
        </p:spPr>
      </p:pic>
    </p:spTree>
    <p:extLst>
      <p:ext uri="{BB962C8B-B14F-4D97-AF65-F5344CB8AC3E}">
        <p14:creationId xmlns:p14="http://schemas.microsoft.com/office/powerpoint/2010/main" val="5245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C5F8-7A35-2B13-1350-04A3EF49D58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8EA4A6E-A092-85A5-4813-B1915290C786}"/>
              </a:ext>
            </a:extLst>
          </p:cNvPr>
          <p:cNvSpPr txBox="1"/>
          <p:nvPr/>
        </p:nvSpPr>
        <p:spPr>
          <a:xfrm>
            <a:off x="4606649" y="91511"/>
            <a:ext cx="2978701" cy="338554"/>
          </a:xfrm>
          <a:prstGeom prst="rect">
            <a:avLst/>
          </a:prstGeom>
          <a:noFill/>
        </p:spPr>
        <p:txBody>
          <a:bodyPr wrap="none" rtlCol="0">
            <a:spAutoFit/>
          </a:bodyPr>
          <a:lstStyle/>
          <a:p>
            <a:r>
              <a:rPr lang="en-IN" sz="1600" b="1" dirty="0">
                <a:solidFill>
                  <a:schemeClr val="accent2"/>
                </a:solidFill>
              </a:rPr>
              <a:t>Module 3 – Branch Analytics</a:t>
            </a:r>
          </a:p>
        </p:txBody>
      </p:sp>
      <p:sp>
        <p:nvSpPr>
          <p:cNvPr id="5" name="TextBox 4">
            <a:extLst>
              <a:ext uri="{FF2B5EF4-FFF2-40B4-BE49-F238E27FC236}">
                <a16:creationId xmlns:a16="http://schemas.microsoft.com/office/drawing/2014/main" id="{D46AF570-EA45-B27B-845E-17541E9E6742}"/>
              </a:ext>
            </a:extLst>
          </p:cNvPr>
          <p:cNvSpPr txBox="1"/>
          <p:nvPr/>
        </p:nvSpPr>
        <p:spPr>
          <a:xfrm>
            <a:off x="101249" y="579347"/>
            <a:ext cx="9010800" cy="307777"/>
          </a:xfrm>
          <a:prstGeom prst="rect">
            <a:avLst/>
          </a:prstGeom>
          <a:noFill/>
        </p:spPr>
        <p:txBody>
          <a:bodyPr wrap="none" rtlCol="0">
            <a:spAutoFit/>
          </a:bodyPr>
          <a:lstStyle/>
          <a:p>
            <a:r>
              <a:rPr lang="en-IN" dirty="0"/>
              <a:t>1.</a:t>
            </a:r>
            <a:r>
              <a:rPr lang="en-US" dirty="0"/>
              <a:t> For each library branch, retrieve the branch name and the total number of books loaned out from that branch.</a:t>
            </a:r>
            <a:endParaRPr lang="en-IN" dirty="0"/>
          </a:p>
        </p:txBody>
      </p:sp>
      <p:sp>
        <p:nvSpPr>
          <p:cNvPr id="6" name="TextBox 5">
            <a:extLst>
              <a:ext uri="{FF2B5EF4-FFF2-40B4-BE49-F238E27FC236}">
                <a16:creationId xmlns:a16="http://schemas.microsoft.com/office/drawing/2014/main" id="{D858076B-DDAF-819A-7916-74899E4C9704}"/>
              </a:ext>
            </a:extLst>
          </p:cNvPr>
          <p:cNvSpPr txBox="1"/>
          <p:nvPr/>
        </p:nvSpPr>
        <p:spPr>
          <a:xfrm>
            <a:off x="201580" y="922227"/>
            <a:ext cx="883575" cy="307777"/>
          </a:xfrm>
          <a:prstGeom prst="rect">
            <a:avLst/>
          </a:prstGeom>
          <a:noFill/>
        </p:spPr>
        <p:txBody>
          <a:bodyPr wrap="none" rtlCol="0">
            <a:spAutoFit/>
          </a:bodyPr>
          <a:lstStyle/>
          <a:p>
            <a:r>
              <a:rPr lang="en-IN" b="1" dirty="0"/>
              <a:t>QUERY:</a:t>
            </a:r>
          </a:p>
        </p:txBody>
      </p:sp>
      <p:sp>
        <p:nvSpPr>
          <p:cNvPr id="10" name="TextBox 9">
            <a:extLst>
              <a:ext uri="{FF2B5EF4-FFF2-40B4-BE49-F238E27FC236}">
                <a16:creationId xmlns:a16="http://schemas.microsoft.com/office/drawing/2014/main" id="{01E9BA21-600E-07EC-B2E1-F365198D0E6D}"/>
              </a:ext>
            </a:extLst>
          </p:cNvPr>
          <p:cNvSpPr txBox="1"/>
          <p:nvPr/>
        </p:nvSpPr>
        <p:spPr>
          <a:xfrm>
            <a:off x="201580" y="3465769"/>
            <a:ext cx="962123" cy="307777"/>
          </a:xfrm>
          <a:prstGeom prst="rect">
            <a:avLst/>
          </a:prstGeom>
          <a:noFill/>
        </p:spPr>
        <p:txBody>
          <a:bodyPr wrap="none" rtlCol="0">
            <a:spAutoFit/>
          </a:bodyPr>
          <a:lstStyle/>
          <a:p>
            <a:r>
              <a:rPr lang="en-IN" b="1" dirty="0"/>
              <a:t>RESULT:</a:t>
            </a:r>
          </a:p>
        </p:txBody>
      </p:sp>
      <p:pic>
        <p:nvPicPr>
          <p:cNvPr id="9" name="Picture 8">
            <a:extLst>
              <a:ext uri="{FF2B5EF4-FFF2-40B4-BE49-F238E27FC236}">
                <a16:creationId xmlns:a16="http://schemas.microsoft.com/office/drawing/2014/main" id="{BFC032E6-07F5-128E-4B2B-1FD1F46BF276}"/>
              </a:ext>
            </a:extLst>
          </p:cNvPr>
          <p:cNvPicPr>
            <a:picLocks noChangeAspect="1"/>
          </p:cNvPicPr>
          <p:nvPr/>
        </p:nvPicPr>
        <p:blipFill>
          <a:blip r:embed="rId2"/>
          <a:stretch>
            <a:fillRect/>
          </a:stretch>
        </p:blipFill>
        <p:spPr>
          <a:xfrm>
            <a:off x="458760" y="1367811"/>
            <a:ext cx="8459098" cy="1911269"/>
          </a:xfrm>
          <a:prstGeom prst="rect">
            <a:avLst/>
          </a:prstGeom>
        </p:spPr>
      </p:pic>
      <p:pic>
        <p:nvPicPr>
          <p:cNvPr id="13" name="Picture 12">
            <a:extLst>
              <a:ext uri="{FF2B5EF4-FFF2-40B4-BE49-F238E27FC236}">
                <a16:creationId xmlns:a16="http://schemas.microsoft.com/office/drawing/2014/main" id="{1BE96FAB-A652-CFEA-5B11-0855F54BD3AF}"/>
              </a:ext>
            </a:extLst>
          </p:cNvPr>
          <p:cNvPicPr>
            <a:picLocks noChangeAspect="1"/>
          </p:cNvPicPr>
          <p:nvPr/>
        </p:nvPicPr>
        <p:blipFill>
          <a:blip r:embed="rId3"/>
          <a:stretch>
            <a:fillRect/>
          </a:stretch>
        </p:blipFill>
        <p:spPr>
          <a:xfrm>
            <a:off x="458760" y="3899166"/>
            <a:ext cx="8459098" cy="2379487"/>
          </a:xfrm>
          <a:prstGeom prst="rect">
            <a:avLst/>
          </a:prstGeom>
        </p:spPr>
      </p:pic>
    </p:spTree>
    <p:extLst>
      <p:ext uri="{BB962C8B-B14F-4D97-AF65-F5344CB8AC3E}">
        <p14:creationId xmlns:p14="http://schemas.microsoft.com/office/powerpoint/2010/main" val="30630573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EA4B0-2ADF-A973-3B3F-29A51E8FCAA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5DCAC01-CC90-7D77-71A8-51B5DD1451A4}"/>
              </a:ext>
            </a:extLst>
          </p:cNvPr>
          <p:cNvSpPr txBox="1"/>
          <p:nvPr/>
        </p:nvSpPr>
        <p:spPr>
          <a:xfrm>
            <a:off x="235976" y="136058"/>
            <a:ext cx="5798382" cy="307777"/>
          </a:xfrm>
          <a:prstGeom prst="rect">
            <a:avLst/>
          </a:prstGeom>
          <a:noFill/>
        </p:spPr>
        <p:txBody>
          <a:bodyPr wrap="none" rtlCol="0">
            <a:spAutoFit/>
          </a:bodyPr>
          <a:lstStyle/>
          <a:p>
            <a:r>
              <a:rPr lang="en-IN" b="1" dirty="0"/>
              <a:t>2.</a:t>
            </a:r>
            <a:r>
              <a:rPr lang="en-US" b="1" dirty="0"/>
              <a:t> Which library branch owns the highest number of book copies?</a:t>
            </a:r>
            <a:endParaRPr lang="en-IN" b="1" dirty="0"/>
          </a:p>
        </p:txBody>
      </p:sp>
      <p:sp>
        <p:nvSpPr>
          <p:cNvPr id="7" name="TextBox 6">
            <a:extLst>
              <a:ext uri="{FF2B5EF4-FFF2-40B4-BE49-F238E27FC236}">
                <a16:creationId xmlns:a16="http://schemas.microsoft.com/office/drawing/2014/main" id="{5FA211EA-4D02-CCA0-A256-32081B421B82}"/>
              </a:ext>
            </a:extLst>
          </p:cNvPr>
          <p:cNvSpPr txBox="1"/>
          <p:nvPr/>
        </p:nvSpPr>
        <p:spPr>
          <a:xfrm>
            <a:off x="353962" y="721699"/>
            <a:ext cx="883575" cy="307777"/>
          </a:xfrm>
          <a:prstGeom prst="rect">
            <a:avLst/>
          </a:prstGeom>
          <a:noFill/>
        </p:spPr>
        <p:txBody>
          <a:bodyPr wrap="none" rtlCol="0">
            <a:spAutoFit/>
          </a:bodyPr>
          <a:lstStyle/>
          <a:p>
            <a:r>
              <a:rPr lang="en-IN" b="1" dirty="0"/>
              <a:t>QUERY:</a:t>
            </a:r>
          </a:p>
        </p:txBody>
      </p:sp>
      <p:sp>
        <p:nvSpPr>
          <p:cNvPr id="8" name="TextBox 7">
            <a:extLst>
              <a:ext uri="{FF2B5EF4-FFF2-40B4-BE49-F238E27FC236}">
                <a16:creationId xmlns:a16="http://schemas.microsoft.com/office/drawing/2014/main" id="{9D43B50E-71CE-41F9-156F-7A2B3D543483}"/>
              </a:ext>
            </a:extLst>
          </p:cNvPr>
          <p:cNvSpPr txBox="1"/>
          <p:nvPr/>
        </p:nvSpPr>
        <p:spPr>
          <a:xfrm>
            <a:off x="314687" y="3757377"/>
            <a:ext cx="962123" cy="307777"/>
          </a:xfrm>
          <a:prstGeom prst="rect">
            <a:avLst/>
          </a:prstGeom>
          <a:noFill/>
        </p:spPr>
        <p:txBody>
          <a:bodyPr wrap="none" rtlCol="0">
            <a:spAutoFit/>
          </a:bodyPr>
          <a:lstStyle/>
          <a:p>
            <a:r>
              <a:rPr lang="en-IN" b="1" dirty="0"/>
              <a:t>RESULT:</a:t>
            </a:r>
          </a:p>
        </p:txBody>
      </p:sp>
      <p:pic>
        <p:nvPicPr>
          <p:cNvPr id="6" name="Picture 5">
            <a:extLst>
              <a:ext uri="{FF2B5EF4-FFF2-40B4-BE49-F238E27FC236}">
                <a16:creationId xmlns:a16="http://schemas.microsoft.com/office/drawing/2014/main" id="{51B1DBB6-77C9-D8C3-5854-5F68F38B8673}"/>
              </a:ext>
            </a:extLst>
          </p:cNvPr>
          <p:cNvPicPr>
            <a:picLocks noChangeAspect="1"/>
          </p:cNvPicPr>
          <p:nvPr/>
        </p:nvPicPr>
        <p:blipFill>
          <a:blip r:embed="rId2"/>
          <a:stretch>
            <a:fillRect/>
          </a:stretch>
        </p:blipFill>
        <p:spPr>
          <a:xfrm>
            <a:off x="519990" y="1167750"/>
            <a:ext cx="8791157" cy="2261250"/>
          </a:xfrm>
          <a:prstGeom prst="rect">
            <a:avLst/>
          </a:prstGeom>
        </p:spPr>
      </p:pic>
      <p:pic>
        <p:nvPicPr>
          <p:cNvPr id="12" name="Picture 11">
            <a:extLst>
              <a:ext uri="{FF2B5EF4-FFF2-40B4-BE49-F238E27FC236}">
                <a16:creationId xmlns:a16="http://schemas.microsoft.com/office/drawing/2014/main" id="{51E04F90-CEA0-C5F2-4E64-8E9C586A9784}"/>
              </a:ext>
            </a:extLst>
          </p:cNvPr>
          <p:cNvPicPr>
            <a:picLocks noChangeAspect="1"/>
          </p:cNvPicPr>
          <p:nvPr/>
        </p:nvPicPr>
        <p:blipFill>
          <a:blip r:embed="rId3"/>
          <a:stretch>
            <a:fillRect/>
          </a:stretch>
        </p:blipFill>
        <p:spPr>
          <a:xfrm>
            <a:off x="519990" y="4393530"/>
            <a:ext cx="6529739" cy="2085927"/>
          </a:xfrm>
          <a:prstGeom prst="rect">
            <a:avLst/>
          </a:prstGeom>
        </p:spPr>
      </p:pic>
    </p:spTree>
    <p:extLst>
      <p:ext uri="{BB962C8B-B14F-4D97-AF65-F5344CB8AC3E}">
        <p14:creationId xmlns:p14="http://schemas.microsoft.com/office/powerpoint/2010/main" val="2394497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79131-F928-30DF-5DDD-65303DF0B9D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02115F9-52A0-A986-68C9-4A7A1FEFF9F3}"/>
              </a:ext>
            </a:extLst>
          </p:cNvPr>
          <p:cNvSpPr txBox="1"/>
          <p:nvPr/>
        </p:nvSpPr>
        <p:spPr>
          <a:xfrm>
            <a:off x="235976" y="136058"/>
            <a:ext cx="6085320" cy="307777"/>
          </a:xfrm>
          <a:prstGeom prst="rect">
            <a:avLst/>
          </a:prstGeom>
          <a:noFill/>
        </p:spPr>
        <p:txBody>
          <a:bodyPr wrap="none" rtlCol="0">
            <a:spAutoFit/>
          </a:bodyPr>
          <a:lstStyle/>
          <a:p>
            <a:r>
              <a:rPr lang="en-IN" b="1" dirty="0"/>
              <a:t>3</a:t>
            </a:r>
            <a:r>
              <a:rPr lang="en-US" b="1" dirty="0"/>
              <a:t>.Which library branch has the highest number of unique book titles?</a:t>
            </a:r>
            <a:endParaRPr lang="en-IN" b="1" dirty="0"/>
          </a:p>
        </p:txBody>
      </p:sp>
      <p:sp>
        <p:nvSpPr>
          <p:cNvPr id="7" name="TextBox 6">
            <a:extLst>
              <a:ext uri="{FF2B5EF4-FFF2-40B4-BE49-F238E27FC236}">
                <a16:creationId xmlns:a16="http://schemas.microsoft.com/office/drawing/2014/main" id="{F64ADB6B-3431-0981-8679-904C764746F5}"/>
              </a:ext>
            </a:extLst>
          </p:cNvPr>
          <p:cNvSpPr txBox="1"/>
          <p:nvPr/>
        </p:nvSpPr>
        <p:spPr>
          <a:xfrm>
            <a:off x="353962" y="721699"/>
            <a:ext cx="883575" cy="307777"/>
          </a:xfrm>
          <a:prstGeom prst="rect">
            <a:avLst/>
          </a:prstGeom>
          <a:noFill/>
        </p:spPr>
        <p:txBody>
          <a:bodyPr wrap="none" rtlCol="0">
            <a:spAutoFit/>
          </a:bodyPr>
          <a:lstStyle/>
          <a:p>
            <a:r>
              <a:rPr lang="en-IN" b="1" dirty="0"/>
              <a:t>QUERY:</a:t>
            </a:r>
          </a:p>
        </p:txBody>
      </p:sp>
      <p:sp>
        <p:nvSpPr>
          <p:cNvPr id="8" name="TextBox 7">
            <a:extLst>
              <a:ext uri="{FF2B5EF4-FFF2-40B4-BE49-F238E27FC236}">
                <a16:creationId xmlns:a16="http://schemas.microsoft.com/office/drawing/2014/main" id="{709B9AC1-8D5B-8D7B-6EE8-54ED596392BF}"/>
              </a:ext>
            </a:extLst>
          </p:cNvPr>
          <p:cNvSpPr txBox="1"/>
          <p:nvPr/>
        </p:nvSpPr>
        <p:spPr>
          <a:xfrm>
            <a:off x="275414" y="3816438"/>
            <a:ext cx="962123" cy="307777"/>
          </a:xfrm>
          <a:prstGeom prst="rect">
            <a:avLst/>
          </a:prstGeom>
          <a:noFill/>
        </p:spPr>
        <p:txBody>
          <a:bodyPr wrap="none" rtlCol="0">
            <a:spAutoFit/>
          </a:bodyPr>
          <a:lstStyle/>
          <a:p>
            <a:r>
              <a:rPr lang="en-IN" b="1" dirty="0"/>
              <a:t>RESULT:</a:t>
            </a:r>
          </a:p>
        </p:txBody>
      </p:sp>
      <p:pic>
        <p:nvPicPr>
          <p:cNvPr id="9" name="Picture 8">
            <a:extLst>
              <a:ext uri="{FF2B5EF4-FFF2-40B4-BE49-F238E27FC236}">
                <a16:creationId xmlns:a16="http://schemas.microsoft.com/office/drawing/2014/main" id="{EC5771D9-4821-9DF5-4096-7BA8784B614F}"/>
              </a:ext>
            </a:extLst>
          </p:cNvPr>
          <p:cNvPicPr>
            <a:picLocks noChangeAspect="1"/>
          </p:cNvPicPr>
          <p:nvPr/>
        </p:nvPicPr>
        <p:blipFill>
          <a:blip r:embed="rId2"/>
          <a:stretch>
            <a:fillRect/>
          </a:stretch>
        </p:blipFill>
        <p:spPr>
          <a:xfrm>
            <a:off x="519988" y="1092007"/>
            <a:ext cx="8073405" cy="2457437"/>
          </a:xfrm>
          <a:prstGeom prst="rect">
            <a:avLst/>
          </a:prstGeom>
        </p:spPr>
      </p:pic>
      <p:pic>
        <p:nvPicPr>
          <p:cNvPr id="13" name="Picture 12">
            <a:extLst>
              <a:ext uri="{FF2B5EF4-FFF2-40B4-BE49-F238E27FC236}">
                <a16:creationId xmlns:a16="http://schemas.microsoft.com/office/drawing/2014/main" id="{12DA008F-FA55-F025-9995-DF7A197EE8C5}"/>
              </a:ext>
            </a:extLst>
          </p:cNvPr>
          <p:cNvPicPr>
            <a:picLocks noChangeAspect="1"/>
          </p:cNvPicPr>
          <p:nvPr/>
        </p:nvPicPr>
        <p:blipFill>
          <a:blip r:embed="rId3"/>
          <a:stretch>
            <a:fillRect/>
          </a:stretch>
        </p:blipFill>
        <p:spPr>
          <a:xfrm>
            <a:off x="519987" y="4149841"/>
            <a:ext cx="6510077" cy="2457436"/>
          </a:xfrm>
          <a:prstGeom prst="rect">
            <a:avLst/>
          </a:prstGeom>
        </p:spPr>
      </p:pic>
    </p:spTree>
    <p:extLst>
      <p:ext uri="{BB962C8B-B14F-4D97-AF65-F5344CB8AC3E}">
        <p14:creationId xmlns:p14="http://schemas.microsoft.com/office/powerpoint/2010/main" val="1682917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33682-7FE1-A5C8-6735-36B88315891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0E9239-84B4-E6D4-A1F8-23C1EE269297}"/>
              </a:ext>
            </a:extLst>
          </p:cNvPr>
          <p:cNvSpPr txBox="1"/>
          <p:nvPr/>
        </p:nvSpPr>
        <p:spPr>
          <a:xfrm>
            <a:off x="235976" y="136058"/>
            <a:ext cx="7031092" cy="307777"/>
          </a:xfrm>
          <a:prstGeom prst="rect">
            <a:avLst/>
          </a:prstGeom>
          <a:noFill/>
        </p:spPr>
        <p:txBody>
          <a:bodyPr wrap="none" rtlCol="0">
            <a:spAutoFit/>
          </a:bodyPr>
          <a:lstStyle/>
          <a:p>
            <a:r>
              <a:rPr lang="en-IN" b="1" dirty="0"/>
              <a:t>4.</a:t>
            </a:r>
            <a:r>
              <a:rPr lang="en-US" b="1" dirty="0"/>
              <a:t> Which library branch has processed the highest number of loan transactions?</a:t>
            </a:r>
            <a:endParaRPr lang="en-IN" b="1" dirty="0"/>
          </a:p>
        </p:txBody>
      </p:sp>
      <p:sp>
        <p:nvSpPr>
          <p:cNvPr id="7" name="TextBox 6">
            <a:extLst>
              <a:ext uri="{FF2B5EF4-FFF2-40B4-BE49-F238E27FC236}">
                <a16:creationId xmlns:a16="http://schemas.microsoft.com/office/drawing/2014/main" id="{AE2919F3-0B51-A8ED-5414-CF2F3835644D}"/>
              </a:ext>
            </a:extLst>
          </p:cNvPr>
          <p:cNvSpPr txBox="1"/>
          <p:nvPr/>
        </p:nvSpPr>
        <p:spPr>
          <a:xfrm>
            <a:off x="353962" y="721699"/>
            <a:ext cx="883575" cy="307777"/>
          </a:xfrm>
          <a:prstGeom prst="rect">
            <a:avLst/>
          </a:prstGeom>
          <a:noFill/>
        </p:spPr>
        <p:txBody>
          <a:bodyPr wrap="none" rtlCol="0">
            <a:spAutoFit/>
          </a:bodyPr>
          <a:lstStyle/>
          <a:p>
            <a:r>
              <a:rPr lang="en-IN" b="1" dirty="0"/>
              <a:t>QUERY:</a:t>
            </a:r>
          </a:p>
        </p:txBody>
      </p:sp>
      <p:sp>
        <p:nvSpPr>
          <p:cNvPr id="8" name="TextBox 7">
            <a:extLst>
              <a:ext uri="{FF2B5EF4-FFF2-40B4-BE49-F238E27FC236}">
                <a16:creationId xmlns:a16="http://schemas.microsoft.com/office/drawing/2014/main" id="{7578D827-C87D-AB53-2928-049B047810F0}"/>
              </a:ext>
            </a:extLst>
          </p:cNvPr>
          <p:cNvSpPr txBox="1"/>
          <p:nvPr/>
        </p:nvSpPr>
        <p:spPr>
          <a:xfrm>
            <a:off x="314687" y="3757377"/>
            <a:ext cx="962123" cy="307777"/>
          </a:xfrm>
          <a:prstGeom prst="rect">
            <a:avLst/>
          </a:prstGeom>
          <a:noFill/>
        </p:spPr>
        <p:txBody>
          <a:bodyPr wrap="none" rtlCol="0">
            <a:spAutoFit/>
          </a:bodyPr>
          <a:lstStyle/>
          <a:p>
            <a:r>
              <a:rPr lang="en-IN" b="1" dirty="0"/>
              <a:t>RESULT:</a:t>
            </a:r>
          </a:p>
        </p:txBody>
      </p:sp>
      <p:pic>
        <p:nvPicPr>
          <p:cNvPr id="5" name="Picture 4">
            <a:extLst>
              <a:ext uri="{FF2B5EF4-FFF2-40B4-BE49-F238E27FC236}">
                <a16:creationId xmlns:a16="http://schemas.microsoft.com/office/drawing/2014/main" id="{E0529D8B-F902-3716-3EE3-9976976B486C}"/>
              </a:ext>
            </a:extLst>
          </p:cNvPr>
          <p:cNvPicPr>
            <a:picLocks noChangeAspect="1"/>
          </p:cNvPicPr>
          <p:nvPr/>
        </p:nvPicPr>
        <p:blipFill>
          <a:blip r:embed="rId2"/>
          <a:stretch>
            <a:fillRect/>
          </a:stretch>
        </p:blipFill>
        <p:spPr>
          <a:xfrm>
            <a:off x="519990" y="1213374"/>
            <a:ext cx="9164784" cy="2544003"/>
          </a:xfrm>
          <a:prstGeom prst="rect">
            <a:avLst/>
          </a:prstGeom>
        </p:spPr>
      </p:pic>
      <p:pic>
        <p:nvPicPr>
          <p:cNvPr id="11" name="Picture 10">
            <a:extLst>
              <a:ext uri="{FF2B5EF4-FFF2-40B4-BE49-F238E27FC236}">
                <a16:creationId xmlns:a16="http://schemas.microsoft.com/office/drawing/2014/main" id="{E6AA1CA2-ED31-E6AE-DDC2-2EDB52FBBE99}"/>
              </a:ext>
            </a:extLst>
          </p:cNvPr>
          <p:cNvPicPr>
            <a:picLocks noChangeAspect="1"/>
          </p:cNvPicPr>
          <p:nvPr/>
        </p:nvPicPr>
        <p:blipFill>
          <a:blip r:embed="rId3"/>
          <a:stretch>
            <a:fillRect/>
          </a:stretch>
        </p:blipFill>
        <p:spPr>
          <a:xfrm>
            <a:off x="519990" y="4343018"/>
            <a:ext cx="6747078" cy="1958362"/>
          </a:xfrm>
          <a:prstGeom prst="rect">
            <a:avLst/>
          </a:prstGeom>
        </p:spPr>
      </p:pic>
    </p:spTree>
    <p:extLst>
      <p:ext uri="{BB962C8B-B14F-4D97-AF65-F5344CB8AC3E}">
        <p14:creationId xmlns:p14="http://schemas.microsoft.com/office/powerpoint/2010/main" val="2755956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B56D3-D2B2-0D17-A86C-431E89B59B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093BD51-E40C-ED00-454A-A8FBA0239C72}"/>
              </a:ext>
            </a:extLst>
          </p:cNvPr>
          <p:cNvSpPr txBox="1"/>
          <p:nvPr/>
        </p:nvSpPr>
        <p:spPr>
          <a:xfrm>
            <a:off x="235976" y="136058"/>
            <a:ext cx="7880684" cy="307777"/>
          </a:xfrm>
          <a:prstGeom prst="rect">
            <a:avLst/>
          </a:prstGeom>
          <a:noFill/>
        </p:spPr>
        <p:txBody>
          <a:bodyPr wrap="none" rtlCol="0">
            <a:spAutoFit/>
          </a:bodyPr>
          <a:lstStyle/>
          <a:p>
            <a:r>
              <a:rPr lang="en-IN" b="1" dirty="0"/>
              <a:t>5.</a:t>
            </a:r>
            <a:r>
              <a:rPr lang="en-US" b="1" dirty="0"/>
              <a:t> Which library branch has the highest average number of books borrowed per borrower ?</a:t>
            </a:r>
            <a:endParaRPr lang="en-IN" b="1" dirty="0"/>
          </a:p>
        </p:txBody>
      </p:sp>
      <p:sp>
        <p:nvSpPr>
          <p:cNvPr id="7" name="TextBox 6">
            <a:extLst>
              <a:ext uri="{FF2B5EF4-FFF2-40B4-BE49-F238E27FC236}">
                <a16:creationId xmlns:a16="http://schemas.microsoft.com/office/drawing/2014/main" id="{EE0327A0-6DF2-3DC0-A666-AEAE6A3C2790}"/>
              </a:ext>
            </a:extLst>
          </p:cNvPr>
          <p:cNvSpPr txBox="1"/>
          <p:nvPr/>
        </p:nvSpPr>
        <p:spPr>
          <a:xfrm>
            <a:off x="353962" y="721699"/>
            <a:ext cx="883575" cy="307777"/>
          </a:xfrm>
          <a:prstGeom prst="rect">
            <a:avLst/>
          </a:prstGeom>
          <a:noFill/>
        </p:spPr>
        <p:txBody>
          <a:bodyPr wrap="none" rtlCol="0">
            <a:spAutoFit/>
          </a:bodyPr>
          <a:lstStyle/>
          <a:p>
            <a:r>
              <a:rPr lang="en-IN" b="1" dirty="0"/>
              <a:t>QUERY:</a:t>
            </a:r>
          </a:p>
        </p:txBody>
      </p:sp>
      <p:sp>
        <p:nvSpPr>
          <p:cNvPr id="8" name="TextBox 7">
            <a:extLst>
              <a:ext uri="{FF2B5EF4-FFF2-40B4-BE49-F238E27FC236}">
                <a16:creationId xmlns:a16="http://schemas.microsoft.com/office/drawing/2014/main" id="{E10A97B9-1D17-DB2C-0658-E7E6DD3FDA0B}"/>
              </a:ext>
            </a:extLst>
          </p:cNvPr>
          <p:cNvSpPr txBox="1"/>
          <p:nvPr/>
        </p:nvSpPr>
        <p:spPr>
          <a:xfrm>
            <a:off x="275414" y="3816438"/>
            <a:ext cx="962123" cy="307777"/>
          </a:xfrm>
          <a:prstGeom prst="rect">
            <a:avLst/>
          </a:prstGeom>
          <a:noFill/>
        </p:spPr>
        <p:txBody>
          <a:bodyPr wrap="none" rtlCol="0">
            <a:spAutoFit/>
          </a:bodyPr>
          <a:lstStyle/>
          <a:p>
            <a:r>
              <a:rPr lang="en-IN" b="1" dirty="0"/>
              <a:t>RESULT:</a:t>
            </a:r>
          </a:p>
        </p:txBody>
      </p:sp>
      <p:pic>
        <p:nvPicPr>
          <p:cNvPr id="6" name="Picture 5">
            <a:extLst>
              <a:ext uri="{FF2B5EF4-FFF2-40B4-BE49-F238E27FC236}">
                <a16:creationId xmlns:a16="http://schemas.microsoft.com/office/drawing/2014/main" id="{8DBDCE1A-993C-D3A4-18BD-B8B60D8CAFF4}"/>
              </a:ext>
            </a:extLst>
          </p:cNvPr>
          <p:cNvPicPr>
            <a:picLocks noChangeAspect="1"/>
          </p:cNvPicPr>
          <p:nvPr/>
        </p:nvPicPr>
        <p:blipFill>
          <a:blip r:embed="rId2"/>
          <a:stretch>
            <a:fillRect/>
          </a:stretch>
        </p:blipFill>
        <p:spPr>
          <a:xfrm>
            <a:off x="519990" y="1041482"/>
            <a:ext cx="9617068" cy="2625950"/>
          </a:xfrm>
          <a:prstGeom prst="rect">
            <a:avLst/>
          </a:prstGeom>
        </p:spPr>
      </p:pic>
      <p:pic>
        <p:nvPicPr>
          <p:cNvPr id="12" name="Picture 11">
            <a:extLst>
              <a:ext uri="{FF2B5EF4-FFF2-40B4-BE49-F238E27FC236}">
                <a16:creationId xmlns:a16="http://schemas.microsoft.com/office/drawing/2014/main" id="{2C44D66B-F557-258D-CB41-601C4F94BCAE}"/>
              </a:ext>
            </a:extLst>
          </p:cNvPr>
          <p:cNvPicPr>
            <a:picLocks noChangeAspect="1"/>
          </p:cNvPicPr>
          <p:nvPr/>
        </p:nvPicPr>
        <p:blipFill>
          <a:blip r:embed="rId3"/>
          <a:stretch>
            <a:fillRect/>
          </a:stretch>
        </p:blipFill>
        <p:spPr>
          <a:xfrm>
            <a:off x="519990" y="4265079"/>
            <a:ext cx="7453971" cy="2189315"/>
          </a:xfrm>
          <a:prstGeom prst="rect">
            <a:avLst/>
          </a:prstGeom>
        </p:spPr>
      </p:pic>
    </p:spTree>
    <p:extLst>
      <p:ext uri="{BB962C8B-B14F-4D97-AF65-F5344CB8AC3E}">
        <p14:creationId xmlns:p14="http://schemas.microsoft.com/office/powerpoint/2010/main" val="790023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4F759-FF54-F1F5-73A7-5B932137104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2F66EB2-F885-18D7-7C3D-D76D46F47B87}"/>
              </a:ext>
            </a:extLst>
          </p:cNvPr>
          <p:cNvSpPr txBox="1"/>
          <p:nvPr/>
        </p:nvSpPr>
        <p:spPr>
          <a:xfrm>
            <a:off x="3980385" y="152060"/>
            <a:ext cx="2762295" cy="338554"/>
          </a:xfrm>
          <a:prstGeom prst="rect">
            <a:avLst/>
          </a:prstGeom>
          <a:noFill/>
        </p:spPr>
        <p:txBody>
          <a:bodyPr wrap="none" rtlCol="0">
            <a:spAutoFit/>
          </a:bodyPr>
          <a:lstStyle/>
          <a:p>
            <a:r>
              <a:rPr lang="en-IN" sz="1600" b="1" dirty="0">
                <a:solidFill>
                  <a:schemeClr val="accent2"/>
                </a:solidFill>
              </a:rPr>
              <a:t>Module 4 – Loan Analytics</a:t>
            </a:r>
          </a:p>
        </p:txBody>
      </p:sp>
      <p:sp>
        <p:nvSpPr>
          <p:cNvPr id="5" name="TextBox 4">
            <a:extLst>
              <a:ext uri="{FF2B5EF4-FFF2-40B4-BE49-F238E27FC236}">
                <a16:creationId xmlns:a16="http://schemas.microsoft.com/office/drawing/2014/main" id="{747650D9-E777-FF26-2CCD-BED2BA769A69}"/>
              </a:ext>
            </a:extLst>
          </p:cNvPr>
          <p:cNvSpPr txBox="1"/>
          <p:nvPr/>
        </p:nvSpPr>
        <p:spPr>
          <a:xfrm>
            <a:off x="240855" y="594662"/>
            <a:ext cx="11731097" cy="523220"/>
          </a:xfrm>
          <a:prstGeom prst="rect">
            <a:avLst/>
          </a:prstGeom>
          <a:noFill/>
        </p:spPr>
        <p:txBody>
          <a:bodyPr wrap="none" rtlCol="0">
            <a:spAutoFit/>
          </a:bodyPr>
          <a:lstStyle/>
          <a:p>
            <a:pPr marL="342900" indent="-342900">
              <a:buAutoNum type="arabicPeriod"/>
            </a:pPr>
            <a:r>
              <a:rPr lang="en-US" b="1" dirty="0"/>
              <a:t>For each book that is loaned out from the "Sharpstown" branch and whose Due Date is 2/3/18, retrieve the book title, the borrower’s</a:t>
            </a:r>
          </a:p>
          <a:p>
            <a:r>
              <a:rPr lang="en-US" b="1" dirty="0"/>
              <a:t> name, and the borrower's address.</a:t>
            </a:r>
            <a:endParaRPr lang="en-IN" b="1" dirty="0"/>
          </a:p>
        </p:txBody>
      </p:sp>
      <p:sp>
        <p:nvSpPr>
          <p:cNvPr id="6" name="TextBox 5">
            <a:extLst>
              <a:ext uri="{FF2B5EF4-FFF2-40B4-BE49-F238E27FC236}">
                <a16:creationId xmlns:a16="http://schemas.microsoft.com/office/drawing/2014/main" id="{50D2B130-6CA1-F994-88E7-455363E63098}"/>
              </a:ext>
            </a:extLst>
          </p:cNvPr>
          <p:cNvSpPr txBox="1"/>
          <p:nvPr/>
        </p:nvSpPr>
        <p:spPr>
          <a:xfrm>
            <a:off x="201580" y="1220932"/>
            <a:ext cx="883575" cy="307777"/>
          </a:xfrm>
          <a:prstGeom prst="rect">
            <a:avLst/>
          </a:prstGeom>
          <a:noFill/>
        </p:spPr>
        <p:txBody>
          <a:bodyPr wrap="none" rtlCol="0">
            <a:spAutoFit/>
          </a:bodyPr>
          <a:lstStyle/>
          <a:p>
            <a:r>
              <a:rPr lang="en-IN" b="1" dirty="0"/>
              <a:t>QUERY:</a:t>
            </a:r>
          </a:p>
        </p:txBody>
      </p:sp>
      <p:sp>
        <p:nvSpPr>
          <p:cNvPr id="10" name="TextBox 9">
            <a:extLst>
              <a:ext uri="{FF2B5EF4-FFF2-40B4-BE49-F238E27FC236}">
                <a16:creationId xmlns:a16="http://schemas.microsoft.com/office/drawing/2014/main" id="{646AF269-DAD1-58B5-02F3-66A1745684D9}"/>
              </a:ext>
            </a:extLst>
          </p:cNvPr>
          <p:cNvSpPr txBox="1"/>
          <p:nvPr/>
        </p:nvSpPr>
        <p:spPr>
          <a:xfrm>
            <a:off x="201580" y="4079020"/>
            <a:ext cx="962123" cy="307777"/>
          </a:xfrm>
          <a:prstGeom prst="rect">
            <a:avLst/>
          </a:prstGeom>
          <a:noFill/>
        </p:spPr>
        <p:txBody>
          <a:bodyPr wrap="none" rtlCol="0">
            <a:spAutoFit/>
          </a:bodyPr>
          <a:lstStyle/>
          <a:p>
            <a:r>
              <a:rPr lang="en-IN" b="1" dirty="0"/>
              <a:t>RESULT:</a:t>
            </a:r>
          </a:p>
        </p:txBody>
      </p:sp>
      <p:pic>
        <p:nvPicPr>
          <p:cNvPr id="8" name="Picture 7">
            <a:extLst>
              <a:ext uri="{FF2B5EF4-FFF2-40B4-BE49-F238E27FC236}">
                <a16:creationId xmlns:a16="http://schemas.microsoft.com/office/drawing/2014/main" id="{6344A069-9012-F26D-2A08-F2BDD803DB4A}"/>
              </a:ext>
            </a:extLst>
          </p:cNvPr>
          <p:cNvPicPr>
            <a:picLocks noChangeAspect="1"/>
          </p:cNvPicPr>
          <p:nvPr/>
        </p:nvPicPr>
        <p:blipFill>
          <a:blip r:embed="rId2"/>
          <a:stretch>
            <a:fillRect/>
          </a:stretch>
        </p:blipFill>
        <p:spPr>
          <a:xfrm>
            <a:off x="458759" y="1528709"/>
            <a:ext cx="8154298" cy="2438917"/>
          </a:xfrm>
          <a:prstGeom prst="rect">
            <a:avLst/>
          </a:prstGeom>
        </p:spPr>
      </p:pic>
      <p:pic>
        <p:nvPicPr>
          <p:cNvPr id="14" name="Picture 13">
            <a:extLst>
              <a:ext uri="{FF2B5EF4-FFF2-40B4-BE49-F238E27FC236}">
                <a16:creationId xmlns:a16="http://schemas.microsoft.com/office/drawing/2014/main" id="{7B47337A-8DEE-6505-7F74-AA299743368E}"/>
              </a:ext>
            </a:extLst>
          </p:cNvPr>
          <p:cNvPicPr>
            <a:picLocks noChangeAspect="1"/>
          </p:cNvPicPr>
          <p:nvPr/>
        </p:nvPicPr>
        <p:blipFill>
          <a:blip r:embed="rId3"/>
          <a:stretch>
            <a:fillRect/>
          </a:stretch>
        </p:blipFill>
        <p:spPr>
          <a:xfrm>
            <a:off x="458759" y="4594894"/>
            <a:ext cx="7043253" cy="2071377"/>
          </a:xfrm>
          <a:prstGeom prst="rect">
            <a:avLst/>
          </a:prstGeom>
        </p:spPr>
      </p:pic>
    </p:spTree>
    <p:extLst>
      <p:ext uri="{BB962C8B-B14F-4D97-AF65-F5344CB8AC3E}">
        <p14:creationId xmlns:p14="http://schemas.microsoft.com/office/powerpoint/2010/main" val="561530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804E7-2F50-904E-4807-00CB9EC56EF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4C9639A-DCA7-0674-A732-EAF407778D38}"/>
              </a:ext>
            </a:extLst>
          </p:cNvPr>
          <p:cNvSpPr txBox="1"/>
          <p:nvPr/>
        </p:nvSpPr>
        <p:spPr>
          <a:xfrm>
            <a:off x="235976" y="136058"/>
            <a:ext cx="6098144" cy="307777"/>
          </a:xfrm>
          <a:prstGeom prst="rect">
            <a:avLst/>
          </a:prstGeom>
          <a:noFill/>
        </p:spPr>
        <p:txBody>
          <a:bodyPr wrap="none" rtlCol="0">
            <a:spAutoFit/>
          </a:bodyPr>
          <a:lstStyle/>
          <a:p>
            <a:r>
              <a:rPr lang="en-IN" b="1" dirty="0"/>
              <a:t>2.</a:t>
            </a:r>
            <a:r>
              <a:rPr lang="en-US" b="1" dirty="0"/>
              <a:t> Which books have been borrowed the most in each library branch?</a:t>
            </a:r>
            <a:endParaRPr lang="en-IN" b="1" dirty="0"/>
          </a:p>
        </p:txBody>
      </p:sp>
      <p:sp>
        <p:nvSpPr>
          <p:cNvPr id="7" name="TextBox 6">
            <a:extLst>
              <a:ext uri="{FF2B5EF4-FFF2-40B4-BE49-F238E27FC236}">
                <a16:creationId xmlns:a16="http://schemas.microsoft.com/office/drawing/2014/main" id="{B4F2A275-A165-176A-4439-76933016EE98}"/>
              </a:ext>
            </a:extLst>
          </p:cNvPr>
          <p:cNvSpPr txBox="1"/>
          <p:nvPr/>
        </p:nvSpPr>
        <p:spPr>
          <a:xfrm>
            <a:off x="353962" y="721699"/>
            <a:ext cx="883575" cy="307777"/>
          </a:xfrm>
          <a:prstGeom prst="rect">
            <a:avLst/>
          </a:prstGeom>
          <a:noFill/>
        </p:spPr>
        <p:txBody>
          <a:bodyPr wrap="none" rtlCol="0">
            <a:spAutoFit/>
          </a:bodyPr>
          <a:lstStyle/>
          <a:p>
            <a:r>
              <a:rPr lang="en-IN" b="1" dirty="0"/>
              <a:t>QUERY:</a:t>
            </a:r>
          </a:p>
        </p:txBody>
      </p:sp>
      <p:sp>
        <p:nvSpPr>
          <p:cNvPr id="8" name="TextBox 7">
            <a:extLst>
              <a:ext uri="{FF2B5EF4-FFF2-40B4-BE49-F238E27FC236}">
                <a16:creationId xmlns:a16="http://schemas.microsoft.com/office/drawing/2014/main" id="{49E8F588-B526-3FAD-9755-4128E424DACE}"/>
              </a:ext>
            </a:extLst>
          </p:cNvPr>
          <p:cNvSpPr txBox="1"/>
          <p:nvPr/>
        </p:nvSpPr>
        <p:spPr>
          <a:xfrm>
            <a:off x="275414" y="4667482"/>
            <a:ext cx="962123" cy="307777"/>
          </a:xfrm>
          <a:prstGeom prst="rect">
            <a:avLst/>
          </a:prstGeom>
          <a:noFill/>
        </p:spPr>
        <p:txBody>
          <a:bodyPr wrap="none" rtlCol="0">
            <a:spAutoFit/>
          </a:bodyPr>
          <a:lstStyle/>
          <a:p>
            <a:r>
              <a:rPr lang="en-IN" b="1" dirty="0"/>
              <a:t>RESULT:</a:t>
            </a:r>
          </a:p>
        </p:txBody>
      </p:sp>
      <p:pic>
        <p:nvPicPr>
          <p:cNvPr id="18" name="Picture 17">
            <a:extLst>
              <a:ext uri="{FF2B5EF4-FFF2-40B4-BE49-F238E27FC236}">
                <a16:creationId xmlns:a16="http://schemas.microsoft.com/office/drawing/2014/main" id="{98155F47-F45C-13A8-0AAF-0BFA3642B657}"/>
              </a:ext>
            </a:extLst>
          </p:cNvPr>
          <p:cNvPicPr>
            <a:picLocks noChangeAspect="1"/>
          </p:cNvPicPr>
          <p:nvPr/>
        </p:nvPicPr>
        <p:blipFill>
          <a:blip r:embed="rId2"/>
          <a:stretch>
            <a:fillRect/>
          </a:stretch>
        </p:blipFill>
        <p:spPr>
          <a:xfrm>
            <a:off x="569075" y="1029476"/>
            <a:ext cx="8987880" cy="3436918"/>
          </a:xfrm>
          <a:prstGeom prst="rect">
            <a:avLst/>
          </a:prstGeom>
        </p:spPr>
      </p:pic>
      <p:pic>
        <p:nvPicPr>
          <p:cNvPr id="21" name="Picture 20">
            <a:extLst>
              <a:ext uri="{FF2B5EF4-FFF2-40B4-BE49-F238E27FC236}">
                <a16:creationId xmlns:a16="http://schemas.microsoft.com/office/drawing/2014/main" id="{428BE0FF-4FBB-EAA0-9121-5406DF3F8AC1}"/>
              </a:ext>
            </a:extLst>
          </p:cNvPr>
          <p:cNvPicPr>
            <a:picLocks noChangeAspect="1"/>
          </p:cNvPicPr>
          <p:nvPr/>
        </p:nvPicPr>
        <p:blipFill>
          <a:blip r:embed="rId3"/>
          <a:stretch>
            <a:fillRect/>
          </a:stretch>
        </p:blipFill>
        <p:spPr>
          <a:xfrm>
            <a:off x="557659" y="4975259"/>
            <a:ext cx="6914857" cy="1641851"/>
          </a:xfrm>
          <a:prstGeom prst="rect">
            <a:avLst/>
          </a:prstGeom>
        </p:spPr>
      </p:pic>
    </p:spTree>
    <p:extLst>
      <p:ext uri="{BB962C8B-B14F-4D97-AF65-F5344CB8AC3E}">
        <p14:creationId xmlns:p14="http://schemas.microsoft.com/office/powerpoint/2010/main" val="19035201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01E3AD-D6D3-F785-8F2A-049CF126D0B4}"/>
              </a:ext>
            </a:extLst>
          </p:cNvPr>
          <p:cNvSpPr txBox="1"/>
          <p:nvPr/>
        </p:nvSpPr>
        <p:spPr>
          <a:xfrm>
            <a:off x="4492035" y="196644"/>
            <a:ext cx="3207929" cy="338554"/>
          </a:xfrm>
          <a:prstGeom prst="rect">
            <a:avLst/>
          </a:prstGeom>
          <a:noFill/>
        </p:spPr>
        <p:txBody>
          <a:bodyPr wrap="none" rtlCol="0">
            <a:spAutoFit/>
          </a:bodyPr>
          <a:lstStyle/>
          <a:p>
            <a:r>
              <a:rPr lang="en-IN" sz="1600" b="1" dirty="0">
                <a:solidFill>
                  <a:srgbClr val="C00000"/>
                </a:solidFill>
              </a:rPr>
              <a:t>Module 5 – Publisher Analytics</a:t>
            </a:r>
          </a:p>
        </p:txBody>
      </p:sp>
      <p:sp>
        <p:nvSpPr>
          <p:cNvPr id="3" name="TextBox 2">
            <a:extLst>
              <a:ext uri="{FF2B5EF4-FFF2-40B4-BE49-F238E27FC236}">
                <a16:creationId xmlns:a16="http://schemas.microsoft.com/office/drawing/2014/main" id="{B03E0CA7-350B-5807-2C94-3F550DD974D5}"/>
              </a:ext>
            </a:extLst>
          </p:cNvPr>
          <p:cNvSpPr txBox="1"/>
          <p:nvPr/>
        </p:nvSpPr>
        <p:spPr>
          <a:xfrm>
            <a:off x="304800" y="786581"/>
            <a:ext cx="6870792" cy="307777"/>
          </a:xfrm>
          <a:prstGeom prst="rect">
            <a:avLst/>
          </a:prstGeom>
          <a:noFill/>
        </p:spPr>
        <p:txBody>
          <a:bodyPr wrap="none" rtlCol="0">
            <a:spAutoFit/>
          </a:bodyPr>
          <a:lstStyle/>
          <a:p>
            <a:r>
              <a:rPr lang="en-IN" b="1" dirty="0"/>
              <a:t>1.</a:t>
            </a:r>
            <a:r>
              <a:rPr lang="en-US" b="1" dirty="0"/>
              <a:t> Which publishers have the highest number of books available in the library?</a:t>
            </a:r>
            <a:endParaRPr lang="en-IN" b="1" dirty="0"/>
          </a:p>
        </p:txBody>
      </p:sp>
      <p:sp>
        <p:nvSpPr>
          <p:cNvPr id="4" name="TextBox 3">
            <a:extLst>
              <a:ext uri="{FF2B5EF4-FFF2-40B4-BE49-F238E27FC236}">
                <a16:creationId xmlns:a16="http://schemas.microsoft.com/office/drawing/2014/main" id="{CD681F81-86EA-7C4E-C3B9-2BACE0C4FCDA}"/>
              </a:ext>
            </a:extLst>
          </p:cNvPr>
          <p:cNvSpPr txBox="1"/>
          <p:nvPr/>
        </p:nvSpPr>
        <p:spPr>
          <a:xfrm>
            <a:off x="304800" y="1191852"/>
            <a:ext cx="883575" cy="307777"/>
          </a:xfrm>
          <a:prstGeom prst="rect">
            <a:avLst/>
          </a:prstGeom>
          <a:noFill/>
        </p:spPr>
        <p:txBody>
          <a:bodyPr wrap="none" rtlCol="0">
            <a:spAutoFit/>
          </a:bodyPr>
          <a:lstStyle/>
          <a:p>
            <a:r>
              <a:rPr lang="en-IN" b="1" dirty="0"/>
              <a:t>QUERY:</a:t>
            </a:r>
          </a:p>
        </p:txBody>
      </p:sp>
      <p:pic>
        <p:nvPicPr>
          <p:cNvPr id="7" name="Picture 6">
            <a:extLst>
              <a:ext uri="{FF2B5EF4-FFF2-40B4-BE49-F238E27FC236}">
                <a16:creationId xmlns:a16="http://schemas.microsoft.com/office/drawing/2014/main" id="{12F57685-64F9-E861-A149-448194307D19}"/>
              </a:ext>
            </a:extLst>
          </p:cNvPr>
          <p:cNvPicPr>
            <a:picLocks noChangeAspect="1"/>
          </p:cNvPicPr>
          <p:nvPr/>
        </p:nvPicPr>
        <p:blipFill>
          <a:blip r:embed="rId2"/>
          <a:stretch>
            <a:fillRect/>
          </a:stretch>
        </p:blipFill>
        <p:spPr>
          <a:xfrm>
            <a:off x="505844" y="1604496"/>
            <a:ext cx="6669748" cy="1824503"/>
          </a:xfrm>
          <a:prstGeom prst="rect">
            <a:avLst/>
          </a:prstGeom>
        </p:spPr>
      </p:pic>
      <p:sp>
        <p:nvSpPr>
          <p:cNvPr id="8" name="TextBox 7">
            <a:extLst>
              <a:ext uri="{FF2B5EF4-FFF2-40B4-BE49-F238E27FC236}">
                <a16:creationId xmlns:a16="http://schemas.microsoft.com/office/drawing/2014/main" id="{B6B9125D-230E-1A0A-C250-0266F1ECBB60}"/>
              </a:ext>
            </a:extLst>
          </p:cNvPr>
          <p:cNvSpPr txBox="1"/>
          <p:nvPr/>
        </p:nvSpPr>
        <p:spPr>
          <a:xfrm>
            <a:off x="304800" y="3785248"/>
            <a:ext cx="962123" cy="307777"/>
          </a:xfrm>
          <a:prstGeom prst="rect">
            <a:avLst/>
          </a:prstGeom>
          <a:noFill/>
        </p:spPr>
        <p:txBody>
          <a:bodyPr wrap="none" rtlCol="0">
            <a:spAutoFit/>
          </a:bodyPr>
          <a:lstStyle/>
          <a:p>
            <a:r>
              <a:rPr lang="en-IN" b="1" dirty="0"/>
              <a:t>RESULT:</a:t>
            </a:r>
          </a:p>
        </p:txBody>
      </p:sp>
      <p:pic>
        <p:nvPicPr>
          <p:cNvPr id="11" name="Picture 10">
            <a:extLst>
              <a:ext uri="{FF2B5EF4-FFF2-40B4-BE49-F238E27FC236}">
                <a16:creationId xmlns:a16="http://schemas.microsoft.com/office/drawing/2014/main" id="{FA2A720C-D539-EA7A-2E27-B8D4F0D88B4A}"/>
              </a:ext>
            </a:extLst>
          </p:cNvPr>
          <p:cNvPicPr>
            <a:picLocks noChangeAspect="1"/>
          </p:cNvPicPr>
          <p:nvPr/>
        </p:nvPicPr>
        <p:blipFill>
          <a:blip r:embed="rId3"/>
          <a:stretch>
            <a:fillRect/>
          </a:stretch>
        </p:blipFill>
        <p:spPr>
          <a:xfrm>
            <a:off x="555003" y="4168877"/>
            <a:ext cx="7851577" cy="2209767"/>
          </a:xfrm>
          <a:prstGeom prst="rect">
            <a:avLst/>
          </a:prstGeom>
        </p:spPr>
      </p:pic>
    </p:spTree>
    <p:extLst>
      <p:ext uri="{BB962C8B-B14F-4D97-AF65-F5344CB8AC3E}">
        <p14:creationId xmlns:p14="http://schemas.microsoft.com/office/powerpoint/2010/main" val="2281883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3E7E8-E823-1BD2-01DC-100947B3B4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007083-48D8-ED22-12C0-EB586DBE2247}"/>
              </a:ext>
            </a:extLst>
          </p:cNvPr>
          <p:cNvSpPr txBox="1"/>
          <p:nvPr/>
        </p:nvSpPr>
        <p:spPr>
          <a:xfrm>
            <a:off x="235976" y="136058"/>
            <a:ext cx="7726795" cy="307777"/>
          </a:xfrm>
          <a:prstGeom prst="rect">
            <a:avLst/>
          </a:prstGeom>
          <a:noFill/>
        </p:spPr>
        <p:txBody>
          <a:bodyPr wrap="none" rtlCol="0">
            <a:spAutoFit/>
          </a:bodyPr>
          <a:lstStyle/>
          <a:p>
            <a:r>
              <a:rPr lang="en-IN" b="1" dirty="0"/>
              <a:t>2.</a:t>
            </a:r>
            <a:r>
              <a:rPr lang="en-US" b="1" dirty="0"/>
              <a:t> Which publisher owns the highest number of book copies across all library branches?</a:t>
            </a:r>
            <a:endParaRPr lang="en-IN" b="1" dirty="0"/>
          </a:p>
        </p:txBody>
      </p:sp>
      <p:sp>
        <p:nvSpPr>
          <p:cNvPr id="7" name="TextBox 6">
            <a:extLst>
              <a:ext uri="{FF2B5EF4-FFF2-40B4-BE49-F238E27FC236}">
                <a16:creationId xmlns:a16="http://schemas.microsoft.com/office/drawing/2014/main" id="{49252525-66ED-EE6F-3025-7B725D9A4077}"/>
              </a:ext>
            </a:extLst>
          </p:cNvPr>
          <p:cNvSpPr txBox="1"/>
          <p:nvPr/>
        </p:nvSpPr>
        <p:spPr>
          <a:xfrm>
            <a:off x="353962" y="721699"/>
            <a:ext cx="883575" cy="307777"/>
          </a:xfrm>
          <a:prstGeom prst="rect">
            <a:avLst/>
          </a:prstGeom>
          <a:noFill/>
        </p:spPr>
        <p:txBody>
          <a:bodyPr wrap="none" rtlCol="0">
            <a:spAutoFit/>
          </a:bodyPr>
          <a:lstStyle/>
          <a:p>
            <a:r>
              <a:rPr lang="en-IN" b="1" dirty="0"/>
              <a:t>QUERY:</a:t>
            </a:r>
          </a:p>
        </p:txBody>
      </p:sp>
      <p:sp>
        <p:nvSpPr>
          <p:cNvPr id="8" name="TextBox 7">
            <a:extLst>
              <a:ext uri="{FF2B5EF4-FFF2-40B4-BE49-F238E27FC236}">
                <a16:creationId xmlns:a16="http://schemas.microsoft.com/office/drawing/2014/main" id="{39CE6189-D1CA-B0D5-773A-5EB4EB2C7A2B}"/>
              </a:ext>
            </a:extLst>
          </p:cNvPr>
          <p:cNvSpPr txBox="1"/>
          <p:nvPr/>
        </p:nvSpPr>
        <p:spPr>
          <a:xfrm>
            <a:off x="275414" y="3816438"/>
            <a:ext cx="962123" cy="307777"/>
          </a:xfrm>
          <a:prstGeom prst="rect">
            <a:avLst/>
          </a:prstGeom>
          <a:noFill/>
        </p:spPr>
        <p:txBody>
          <a:bodyPr wrap="none" rtlCol="0">
            <a:spAutoFit/>
          </a:bodyPr>
          <a:lstStyle/>
          <a:p>
            <a:r>
              <a:rPr lang="en-IN" b="1" dirty="0"/>
              <a:t>RESULT:</a:t>
            </a:r>
          </a:p>
        </p:txBody>
      </p:sp>
      <p:pic>
        <p:nvPicPr>
          <p:cNvPr id="6" name="Picture 5">
            <a:extLst>
              <a:ext uri="{FF2B5EF4-FFF2-40B4-BE49-F238E27FC236}">
                <a16:creationId xmlns:a16="http://schemas.microsoft.com/office/drawing/2014/main" id="{66377460-0184-9DC3-7F93-EF7475013D73}"/>
              </a:ext>
            </a:extLst>
          </p:cNvPr>
          <p:cNvPicPr>
            <a:picLocks noChangeAspect="1"/>
          </p:cNvPicPr>
          <p:nvPr/>
        </p:nvPicPr>
        <p:blipFill>
          <a:blip r:embed="rId2"/>
          <a:stretch>
            <a:fillRect/>
          </a:stretch>
        </p:blipFill>
        <p:spPr>
          <a:xfrm>
            <a:off x="519989" y="1129778"/>
            <a:ext cx="7827597" cy="2408796"/>
          </a:xfrm>
          <a:prstGeom prst="rect">
            <a:avLst/>
          </a:prstGeom>
        </p:spPr>
      </p:pic>
      <p:pic>
        <p:nvPicPr>
          <p:cNvPr id="12" name="Picture 11">
            <a:extLst>
              <a:ext uri="{FF2B5EF4-FFF2-40B4-BE49-F238E27FC236}">
                <a16:creationId xmlns:a16="http://schemas.microsoft.com/office/drawing/2014/main" id="{E1930985-B247-0805-A40D-2AD3540B782A}"/>
              </a:ext>
            </a:extLst>
          </p:cNvPr>
          <p:cNvPicPr>
            <a:picLocks noChangeAspect="1"/>
          </p:cNvPicPr>
          <p:nvPr/>
        </p:nvPicPr>
        <p:blipFill>
          <a:blip r:embed="rId3"/>
          <a:stretch>
            <a:fillRect/>
          </a:stretch>
        </p:blipFill>
        <p:spPr>
          <a:xfrm>
            <a:off x="519989" y="4224517"/>
            <a:ext cx="7522798" cy="2274605"/>
          </a:xfrm>
          <a:prstGeom prst="rect">
            <a:avLst/>
          </a:prstGeom>
        </p:spPr>
      </p:pic>
    </p:spTree>
    <p:extLst>
      <p:ext uri="{BB962C8B-B14F-4D97-AF65-F5344CB8AC3E}">
        <p14:creationId xmlns:p14="http://schemas.microsoft.com/office/powerpoint/2010/main" val="21188974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26BACA1-B332-A570-3A24-A4A679F801C3}"/>
              </a:ext>
            </a:extLst>
          </p:cNvPr>
          <p:cNvSpPr txBox="1"/>
          <p:nvPr/>
        </p:nvSpPr>
        <p:spPr>
          <a:xfrm>
            <a:off x="245806" y="81341"/>
            <a:ext cx="10205884" cy="6494085"/>
          </a:xfrm>
          <a:prstGeom prst="rect">
            <a:avLst/>
          </a:prstGeom>
          <a:noFill/>
        </p:spPr>
        <p:txBody>
          <a:bodyPr wrap="square">
            <a:spAutoFit/>
          </a:bodyPr>
          <a:lstStyle/>
          <a:p>
            <a:pPr>
              <a:buNone/>
            </a:pPr>
            <a:r>
              <a:rPr lang="en-IN" sz="2800" b="1" dirty="0">
                <a:solidFill>
                  <a:schemeClr val="accent1"/>
                </a:solidFill>
              </a:rPr>
              <a:t>Key Insights:</a:t>
            </a:r>
          </a:p>
          <a:p>
            <a:pPr>
              <a:buNone/>
            </a:pPr>
            <a:endParaRPr lang="en-IN" sz="2800" b="1" dirty="0">
              <a:solidFill>
                <a:schemeClr val="accent1"/>
              </a:solidFill>
            </a:endParaRPr>
          </a:p>
          <a:p>
            <a:pPr>
              <a:buNone/>
            </a:pPr>
            <a:r>
              <a:rPr lang="en-IN" sz="2400" dirty="0"/>
              <a:t>  • Identified the most frequently borrowed books.</a:t>
            </a:r>
          </a:p>
          <a:p>
            <a:pPr>
              <a:buNone/>
            </a:pPr>
            <a:br>
              <a:rPr lang="en-IN" sz="2400" dirty="0"/>
            </a:br>
            <a:r>
              <a:rPr lang="en-IN" sz="2400" dirty="0"/>
              <a:t>  • Identified books with the lowest borrowing frequency.</a:t>
            </a:r>
          </a:p>
          <a:p>
            <a:pPr>
              <a:buNone/>
            </a:pPr>
            <a:br>
              <a:rPr lang="en-IN" sz="2400" dirty="0"/>
            </a:br>
            <a:r>
              <a:rPr lang="en-IN" sz="2400" dirty="0"/>
              <a:t>  • Found the most active borrowers in the library.</a:t>
            </a:r>
          </a:p>
          <a:p>
            <a:pPr>
              <a:buNone/>
            </a:pPr>
            <a:br>
              <a:rPr lang="en-IN" sz="2400" dirty="0"/>
            </a:br>
            <a:r>
              <a:rPr lang="en-IN" sz="2400" dirty="0"/>
              <a:t>  • Identified borrowers with more than five books checked out.</a:t>
            </a:r>
          </a:p>
          <a:p>
            <a:pPr>
              <a:buNone/>
            </a:pPr>
            <a:br>
              <a:rPr lang="en-IN" sz="2400" dirty="0"/>
            </a:br>
            <a:r>
              <a:rPr lang="en-IN" sz="2400" dirty="0"/>
              <a:t>  • Compared branches based on total loan transactions.</a:t>
            </a:r>
          </a:p>
          <a:p>
            <a:pPr>
              <a:buNone/>
            </a:pPr>
            <a:br>
              <a:rPr lang="en-IN" sz="2400" dirty="0"/>
            </a:br>
            <a:r>
              <a:rPr lang="en-IN" sz="2400" dirty="0"/>
              <a:t>  • Identified the branch with the highest number of book copies.</a:t>
            </a:r>
          </a:p>
          <a:p>
            <a:pPr>
              <a:buNone/>
            </a:pPr>
            <a:br>
              <a:rPr lang="en-IN" sz="2400" dirty="0"/>
            </a:br>
            <a:r>
              <a:rPr lang="en-IN" sz="2400" dirty="0"/>
              <a:t>  • Found publishers with higher book availability.</a:t>
            </a:r>
          </a:p>
          <a:p>
            <a:pPr>
              <a:buNone/>
            </a:pPr>
            <a:br>
              <a:rPr lang="en-IN" sz="2400" dirty="0"/>
            </a:br>
            <a:r>
              <a:rPr lang="en-IN" sz="2400" dirty="0"/>
              <a:t>  • </a:t>
            </a:r>
            <a:r>
              <a:rPr lang="en-IN" sz="2400" dirty="0" err="1"/>
              <a:t>Analyzed</a:t>
            </a:r>
            <a:r>
              <a:rPr lang="en-IN" sz="2400" dirty="0"/>
              <a:t> loan activity across different library branches.</a:t>
            </a:r>
          </a:p>
        </p:txBody>
      </p:sp>
    </p:spTree>
    <p:extLst>
      <p:ext uri="{BB962C8B-B14F-4D97-AF65-F5344CB8AC3E}">
        <p14:creationId xmlns:p14="http://schemas.microsoft.com/office/powerpoint/2010/main" val="1666570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D7F1B4-F1CA-ADA6-F01B-0C8CAEFB6E13}"/>
              </a:ext>
            </a:extLst>
          </p:cNvPr>
          <p:cNvSpPr txBox="1"/>
          <p:nvPr/>
        </p:nvSpPr>
        <p:spPr>
          <a:xfrm>
            <a:off x="176981" y="0"/>
            <a:ext cx="9556956" cy="6494085"/>
          </a:xfrm>
          <a:prstGeom prst="rect">
            <a:avLst/>
          </a:prstGeom>
          <a:noFill/>
        </p:spPr>
        <p:txBody>
          <a:bodyPr wrap="square">
            <a:spAutoFit/>
          </a:bodyPr>
          <a:lstStyle/>
          <a:p>
            <a:pPr>
              <a:buNone/>
            </a:pPr>
            <a:r>
              <a:rPr lang="en-IN" sz="2800" b="1" dirty="0">
                <a:solidFill>
                  <a:schemeClr val="accent6">
                    <a:lumMod val="75000"/>
                  </a:schemeClr>
                </a:solidFill>
              </a:rPr>
              <a:t>Recommendations:</a:t>
            </a:r>
          </a:p>
          <a:p>
            <a:pPr>
              <a:buNone/>
            </a:pPr>
            <a:endParaRPr lang="en-IN" sz="2800" b="1" dirty="0">
              <a:solidFill>
                <a:schemeClr val="accent6">
                  <a:lumMod val="75000"/>
                </a:schemeClr>
              </a:solidFill>
            </a:endParaRPr>
          </a:p>
          <a:p>
            <a:pPr>
              <a:buNone/>
            </a:pPr>
            <a:r>
              <a:rPr lang="en-IN" sz="2400" dirty="0"/>
              <a:t>  • Keep additional copies of highly borrowed books.</a:t>
            </a:r>
          </a:p>
          <a:p>
            <a:pPr>
              <a:buNone/>
            </a:pPr>
            <a:br>
              <a:rPr lang="en-IN" sz="2400" dirty="0"/>
            </a:br>
            <a:r>
              <a:rPr lang="en-IN" sz="2400" dirty="0"/>
              <a:t>  • Review low-demand books before purchasing more copies.</a:t>
            </a:r>
          </a:p>
          <a:p>
            <a:pPr>
              <a:buNone/>
            </a:pPr>
            <a:br>
              <a:rPr lang="en-IN" sz="2400" dirty="0"/>
            </a:br>
            <a:r>
              <a:rPr lang="en-IN" sz="2400" dirty="0"/>
              <a:t>  • Monitor borrowers with multiple books checked out.</a:t>
            </a:r>
          </a:p>
          <a:p>
            <a:pPr>
              <a:buNone/>
            </a:pPr>
            <a:br>
              <a:rPr lang="en-IN" sz="2400" dirty="0"/>
            </a:br>
            <a:r>
              <a:rPr lang="en-IN" sz="2400" dirty="0"/>
              <a:t>  • Encourage borrowers to return books on time.</a:t>
            </a:r>
          </a:p>
          <a:p>
            <a:pPr>
              <a:buNone/>
            </a:pPr>
            <a:br>
              <a:rPr lang="en-IN" sz="2400" dirty="0"/>
            </a:br>
            <a:r>
              <a:rPr lang="en-IN" sz="2400" dirty="0"/>
              <a:t>  • Improve resources in branches with lower activity.</a:t>
            </a:r>
          </a:p>
          <a:p>
            <a:pPr>
              <a:buNone/>
            </a:pPr>
            <a:br>
              <a:rPr lang="en-IN" sz="2400" dirty="0"/>
            </a:br>
            <a:r>
              <a:rPr lang="en-IN" sz="2400" dirty="0"/>
              <a:t>  • Use loan data to plan book purchases.</a:t>
            </a:r>
          </a:p>
          <a:p>
            <a:pPr>
              <a:buNone/>
            </a:pPr>
            <a:br>
              <a:rPr lang="en-IN" sz="2400" dirty="0"/>
            </a:br>
            <a:r>
              <a:rPr lang="en-IN" sz="2400" dirty="0"/>
              <a:t>  • Maintain sufficient copies based on borrowing demand.</a:t>
            </a:r>
          </a:p>
          <a:p>
            <a:pPr>
              <a:buNone/>
            </a:pPr>
            <a:br>
              <a:rPr lang="en-IN" sz="2400" dirty="0"/>
            </a:br>
            <a:r>
              <a:rPr lang="en-IN" sz="2400" dirty="0"/>
              <a:t>  • Regularly </a:t>
            </a:r>
            <a:r>
              <a:rPr lang="en-IN" sz="2400" dirty="0" err="1"/>
              <a:t>analyze</a:t>
            </a:r>
            <a:r>
              <a:rPr lang="en-IN" sz="2400" dirty="0"/>
              <a:t> library data to improve resource management.</a:t>
            </a:r>
          </a:p>
        </p:txBody>
      </p:sp>
    </p:spTree>
    <p:extLst>
      <p:ext uri="{BB962C8B-B14F-4D97-AF65-F5344CB8AC3E}">
        <p14:creationId xmlns:p14="http://schemas.microsoft.com/office/powerpoint/2010/main" val="146182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31A3A7-8F22-EC8B-A544-2FEA7594BA7E}"/>
              </a:ext>
            </a:extLst>
          </p:cNvPr>
          <p:cNvSpPr txBox="1"/>
          <p:nvPr/>
        </p:nvSpPr>
        <p:spPr>
          <a:xfrm>
            <a:off x="589936" y="1438724"/>
            <a:ext cx="6096000" cy="523220"/>
          </a:xfrm>
          <a:prstGeom prst="rect">
            <a:avLst/>
          </a:prstGeom>
          <a:noFill/>
        </p:spPr>
        <p:txBody>
          <a:bodyPr wrap="square">
            <a:spAutoFit/>
          </a:bodyPr>
          <a:lstStyle/>
          <a:p>
            <a:pPr>
              <a:buNone/>
            </a:pPr>
            <a:r>
              <a:rPr lang="en-IN" sz="2800" b="1" dirty="0">
                <a:solidFill>
                  <a:srgbClr val="FF0000"/>
                </a:solidFill>
              </a:rPr>
              <a:t>Conclusion:</a:t>
            </a:r>
          </a:p>
        </p:txBody>
      </p:sp>
      <p:sp>
        <p:nvSpPr>
          <p:cNvPr id="4" name="TextBox 3">
            <a:extLst>
              <a:ext uri="{FF2B5EF4-FFF2-40B4-BE49-F238E27FC236}">
                <a16:creationId xmlns:a16="http://schemas.microsoft.com/office/drawing/2014/main" id="{BC8A3E04-372E-9651-CEAA-374788656286}"/>
              </a:ext>
            </a:extLst>
          </p:cNvPr>
          <p:cNvSpPr txBox="1"/>
          <p:nvPr/>
        </p:nvSpPr>
        <p:spPr>
          <a:xfrm>
            <a:off x="1189702" y="2261419"/>
            <a:ext cx="9678271" cy="1631216"/>
          </a:xfrm>
          <a:prstGeom prst="rect">
            <a:avLst/>
          </a:prstGeom>
          <a:noFill/>
        </p:spPr>
        <p:txBody>
          <a:bodyPr wrap="square" rtlCol="0">
            <a:spAutoFit/>
          </a:bodyPr>
          <a:lstStyle/>
          <a:p>
            <a:r>
              <a:rPr lang="en-IN" sz="2000" dirty="0"/>
              <a:t>This project uses SQL to analyse different aspects of the Library Management System, including books, borrowers, branches, loans, and publishers. The analysis helped identify borrowing patterns, popular books, active borrowers, and branch </a:t>
            </a:r>
            <a:r>
              <a:rPr lang="en-IN" sz="2000" dirty="0" err="1"/>
              <a:t>performance,providing</a:t>
            </a:r>
            <a:r>
              <a:rPr lang="en-IN" sz="2000" dirty="0"/>
              <a:t> useful insights for better resource management and more informed library decisions.</a:t>
            </a:r>
          </a:p>
        </p:txBody>
      </p:sp>
    </p:spTree>
    <p:extLst>
      <p:ext uri="{BB962C8B-B14F-4D97-AF65-F5344CB8AC3E}">
        <p14:creationId xmlns:p14="http://schemas.microsoft.com/office/powerpoint/2010/main" val="1745867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A2D683DC-D569-0AA9-7C8A-857DDD517C73}"/>
              </a:ext>
            </a:extLst>
          </p:cNvPr>
          <p:cNvSpPr txBox="1"/>
          <p:nvPr/>
        </p:nvSpPr>
        <p:spPr>
          <a:xfrm>
            <a:off x="576943" y="5594905"/>
            <a:ext cx="6096000" cy="830997"/>
          </a:xfrm>
          <a:prstGeom prst="rect">
            <a:avLst/>
          </a:prstGeom>
          <a:noFill/>
        </p:spPr>
        <p:txBody>
          <a:bodyPr wrap="square">
            <a:spAutoFit/>
          </a:bodyPr>
          <a:lstStyle/>
          <a:p>
            <a:r>
              <a:rPr lang="en-IN" sz="2000" b="1" dirty="0">
                <a:solidFill>
                  <a:srgbClr val="C00000"/>
                </a:solidFill>
              </a:rPr>
              <a:t>Presented by:</a:t>
            </a:r>
          </a:p>
          <a:p>
            <a:r>
              <a:rPr lang="en-IN" b="1" dirty="0">
                <a:solidFill>
                  <a:schemeClr val="accent2"/>
                </a:solidFill>
              </a:rPr>
              <a:t>Name</a:t>
            </a:r>
            <a:r>
              <a:rPr lang="en-IN" b="1" dirty="0"/>
              <a:t>:</a:t>
            </a:r>
            <a:r>
              <a:rPr lang="en-IN" dirty="0"/>
              <a:t> M.V V Sesha Ganapati</a:t>
            </a:r>
          </a:p>
          <a:p>
            <a:r>
              <a:rPr lang="en-IN" dirty="0" err="1"/>
              <a:t>B.Tech</a:t>
            </a:r>
            <a:r>
              <a:rPr lang="en-IN" dirty="0"/>
              <a:t> ,ECE </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1752</TotalTime>
  <Words>937</Words>
  <Application>Microsoft Office PowerPoint</Application>
  <PresentationFormat>Widescreen</PresentationFormat>
  <Paragraphs>137</Paragraphs>
  <Slides>28</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Libre Baskerville</vt:lpstr>
      <vt:lpstr>Arial</vt:lpstr>
      <vt:lpstr>Calibri</vt:lpstr>
      <vt:lpstr>Arial Black</vt:lpstr>
      <vt:lpstr>Office Theme</vt:lpstr>
      <vt:lpstr>PowerPoint Presentation</vt:lpstr>
      <vt:lpstr>PowerPoint Presentation</vt:lpstr>
      <vt:lpstr> </vt:lpstr>
      <vt:lpstr>Database Schema</vt:lpstr>
      <vt:lpstr>Dataset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Ganesh Meesala</cp:lastModifiedBy>
  <cp:revision>8</cp:revision>
  <dcterms:created xsi:type="dcterms:W3CDTF">2021-02-16T05:19:01Z</dcterms:created>
  <dcterms:modified xsi:type="dcterms:W3CDTF">2026-10-01T02:02:19Z</dcterms:modified>
</cp:coreProperties>
</file>