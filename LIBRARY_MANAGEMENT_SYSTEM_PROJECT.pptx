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60" r:id="rId5"/>
    <p:sldId id="261" r:id="rId6"/>
    <p:sldId id="288" r:id="rId7"/>
    <p:sldId id="289" r:id="rId8"/>
    <p:sldId id="293" r:id="rId9"/>
    <p:sldId id="294" r:id="rId10"/>
    <p:sldId id="295" r:id="rId11"/>
    <p:sldId id="296" r:id="rId12"/>
    <p:sldId id="297" r:id="rId13"/>
    <p:sldId id="306" r:id="rId14"/>
    <p:sldId id="298" r:id="rId15"/>
    <p:sldId id="299" r:id="rId16"/>
    <p:sldId id="300" r:id="rId17"/>
    <p:sldId id="301" r:id="rId18"/>
    <p:sldId id="308" r:id="rId19"/>
    <p:sldId id="302" r:id="rId20"/>
    <p:sldId id="303" r:id="rId21"/>
    <p:sldId id="304" r:id="rId22"/>
    <p:sldId id="305" r:id="rId23"/>
    <p:sldId id="291" r:id="rId24"/>
    <p:sldId id="307" r:id="rId25"/>
    <p:sldId id="309" r:id="rId26"/>
    <p:sldId id="311" r:id="rId27"/>
    <p:sldId id="310" r:id="rId28"/>
    <p:sldId id="259" r:id="rId29"/>
  </p:sldIdLst>
  <p:sldSz cx="12192000" cy="6858000"/>
  <p:notesSz cx="6858000" cy="9144000"/>
  <p:embeddedFontLst>
    <p:embeddedFont>
      <p:font typeface="Arial Black" panose="020B0A04020102020204" pitchFamily="34" charset="0"/>
      <p:bold r:id="rId31"/>
    </p:embeddedFont>
    <p:embeddedFont>
      <p:font typeface="Libre Baskerville" panose="02000000000000000000" pitchFamily="2" charset="0"/>
      <p:regular r:id="rId32"/>
      <p:bold r:id="rId33"/>
      <p: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29BFB2-620A-4707-BA4F-DF75B1DB2AD2}" v="37" dt="2026-07-13T11:12:07.0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40" Type="http://customschemas.google.com/relationships/presentationmetadata" Target="metadata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163902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E05939-DACE-9C29-F535-41896F9B186D}"/>
              </a:ext>
            </a:extLst>
          </p:cNvPr>
          <p:cNvSpPr txBox="1"/>
          <p:nvPr/>
        </p:nvSpPr>
        <p:spPr>
          <a:xfrm>
            <a:off x="2104103" y="3735717"/>
            <a:ext cx="74626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000" dirty="0">
                <a:solidFill>
                  <a:srgbClr val="0070C0"/>
                </a:solidFill>
              </a:rPr>
              <a:t>Library Management System using SQL</a:t>
            </a:r>
          </a:p>
          <a:p>
            <a:pPr>
              <a:buNone/>
            </a:pPr>
            <a:r>
              <a:rPr lang="en-IN" b="1" dirty="0"/>
              <a:t>         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3BBEC5-4861-85D7-5C85-7F8D6DAAE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960" y="3439553"/>
            <a:ext cx="1023260" cy="7694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590942" y="1023060"/>
            <a:ext cx="10180559" cy="8648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500" b="1" dirty="0">
                <a:solidFill>
                  <a:schemeClr val="accent1"/>
                </a:solidFill>
              </a:rPr>
              <a:t>About Me:</a:t>
            </a:r>
          </a:p>
          <a:p>
            <a:r>
              <a:rPr lang="en-IN" sz="2000" b="1" dirty="0" err="1"/>
              <a:t>M.V.V.S.Ganapati</a:t>
            </a:r>
            <a:br>
              <a:rPr lang="en-IN" sz="2400" dirty="0"/>
            </a:br>
            <a:r>
              <a:rPr lang="en-IN" sz="2400" dirty="0" err="1"/>
              <a:t>B.Tech,ECE</a:t>
            </a:r>
            <a:r>
              <a:rPr lang="en-IN" sz="2400" dirty="0"/>
              <a:t> </a:t>
            </a:r>
            <a:br>
              <a:rPr lang="en-IN" sz="2400" dirty="0"/>
            </a:br>
            <a:r>
              <a:rPr lang="en-IN" sz="2400" dirty="0"/>
              <a:t>Sri Vasavi Engineering College</a:t>
            </a:r>
          </a:p>
          <a:p>
            <a:endParaRPr lang="en-IN" sz="2400" dirty="0"/>
          </a:p>
          <a:p>
            <a:r>
              <a:rPr lang="en-IN" sz="2500" b="1" dirty="0">
                <a:solidFill>
                  <a:srgbClr val="7030A0"/>
                </a:solidFill>
              </a:rPr>
              <a:t>Why Data Science:</a:t>
            </a:r>
          </a:p>
          <a:p>
            <a:r>
              <a:rPr lang="en-IN" sz="2400" dirty="0"/>
              <a:t>•Interested in solving business problems using data. </a:t>
            </a:r>
          </a:p>
          <a:p>
            <a:r>
              <a:rPr lang="en-IN" sz="2400" dirty="0"/>
              <a:t>•Passionate about SQL, analytics, and visualization.</a:t>
            </a:r>
          </a:p>
          <a:p>
            <a:endParaRPr lang="en-IN" sz="2400" dirty="0"/>
          </a:p>
          <a:p>
            <a:r>
              <a:rPr lang="en-IN" sz="2500" b="1" dirty="0">
                <a:solidFill>
                  <a:srgbClr val="92D050"/>
                </a:solidFill>
              </a:rPr>
              <a:t>Experience:</a:t>
            </a:r>
          </a:p>
          <a:p>
            <a:r>
              <a:rPr lang="en-IN" sz="2800" dirty="0"/>
              <a:t>• </a:t>
            </a:r>
            <a:r>
              <a:rPr lang="en-IN" sz="2000" dirty="0"/>
              <a:t>Fresher</a:t>
            </a:r>
          </a:p>
          <a:p>
            <a:endParaRPr lang="en-IN" sz="2000" dirty="0"/>
          </a:p>
          <a:p>
            <a:r>
              <a:rPr lang="en-IN" sz="2000" b="1" dirty="0">
                <a:solidFill>
                  <a:schemeClr val="accent2"/>
                </a:solidFill>
              </a:rPr>
              <a:t>LINKEDIN: </a:t>
            </a:r>
            <a:r>
              <a:rPr lang="en-IN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https://www.linkedin.com/in/ganapati-meesala-b83b5640a/</a:t>
            </a:r>
            <a:endParaRPr lang="en-IN" sz="25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IN" sz="28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GitHub</a:t>
            </a:r>
            <a:r>
              <a:rPr lang="en-IN" sz="28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en-IN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https://github.com/Ganapati88</a:t>
            </a:r>
            <a:br>
              <a:rPr lang="en-IN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endParaRPr lang="en-IN" sz="2500" b="1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</p:txBody>
      </p:sp>
      <p:sp>
        <p:nvSpPr>
          <p:cNvPr id="105" name="Google Shape;105;p3"/>
          <p:cNvSpPr txBox="1"/>
          <p:nvPr/>
        </p:nvSpPr>
        <p:spPr>
          <a:xfrm>
            <a:off x="590942" y="438325"/>
            <a:ext cx="60996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4000" dirty="0">
                <a:solidFill>
                  <a:srgbClr val="002060"/>
                </a:solidFill>
              </a:rPr>
              <a:t>Profile</a:t>
            </a:r>
            <a:endParaRPr sz="4000" b="0" i="0" u="none" strike="noStrike" cap="none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435429"/>
            <a:ext cx="10515600" cy="642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rgbClr val="FF0000"/>
              </a:buClr>
              <a:buSzPts val="4400"/>
            </a:pPr>
            <a:br>
              <a:rPr lang="en-IN" b="1" dirty="0">
                <a:solidFill>
                  <a:schemeClr val="accent1">
                    <a:lumMod val="75000"/>
                  </a:schemeClr>
                </a:solidFill>
              </a:rPr>
            </a:b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363794"/>
            <a:ext cx="10515600" cy="6058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IN" sz="2400" b="1" dirty="0">
                <a:solidFill>
                  <a:schemeClr val="accent2"/>
                </a:solidFill>
              </a:rPr>
              <a:t>Problem Statement</a:t>
            </a:r>
          </a:p>
          <a:p>
            <a:r>
              <a:rPr lang="en-IN" sz="2400" dirty="0"/>
              <a:t>The Library Management System generates data related to books, borrowers, loans, and library branches. The project uses SQL to </a:t>
            </a:r>
            <a:r>
              <a:rPr lang="en-IN" sz="2400" dirty="0" err="1"/>
              <a:t>analyze</a:t>
            </a:r>
            <a:r>
              <a:rPr lang="en-IN" sz="2400" dirty="0"/>
              <a:t> this data and identify useful patterns and insights for better library management.</a:t>
            </a:r>
          </a:p>
          <a:p>
            <a:pPr marL="114300" indent="0">
              <a:buNone/>
            </a:pPr>
            <a:endParaRPr lang="en-IN" sz="2400" dirty="0"/>
          </a:p>
          <a:p>
            <a:pPr marL="114300" indent="0">
              <a:buNone/>
            </a:pPr>
            <a:r>
              <a:rPr lang="en-IN" sz="2400" b="1" dirty="0">
                <a:solidFill>
                  <a:srgbClr val="0070C0"/>
                </a:solidFill>
              </a:rPr>
              <a:t>Main Objectives</a:t>
            </a:r>
          </a:p>
          <a:p>
            <a:pPr lvl="0"/>
            <a:r>
              <a:rPr lang="en-IN" sz="2400" dirty="0" err="1"/>
              <a:t>Analyze</a:t>
            </a:r>
            <a:r>
              <a:rPr lang="en-IN" sz="2400" dirty="0"/>
              <a:t> book and borrowing activities </a:t>
            </a:r>
          </a:p>
          <a:p>
            <a:pPr lvl="0"/>
            <a:r>
              <a:rPr lang="en-IN" sz="2400" dirty="0"/>
              <a:t>Identify popular and frequently borrowed books </a:t>
            </a:r>
          </a:p>
          <a:p>
            <a:pPr lvl="0"/>
            <a:r>
              <a:rPr lang="en-IN" sz="2400" dirty="0" err="1"/>
              <a:t>Analyze</a:t>
            </a:r>
            <a:r>
              <a:rPr lang="en-IN" sz="2400" dirty="0"/>
              <a:t> borrower </a:t>
            </a:r>
            <a:r>
              <a:rPr lang="en-IN" sz="2400" dirty="0" err="1"/>
              <a:t>behavior</a:t>
            </a:r>
            <a:r>
              <a:rPr lang="en-IN" sz="2400" dirty="0"/>
              <a:t> </a:t>
            </a:r>
          </a:p>
          <a:p>
            <a:pPr lvl="0"/>
            <a:r>
              <a:rPr lang="en-IN" sz="2400" dirty="0"/>
              <a:t>Compare library branch performance </a:t>
            </a:r>
          </a:p>
          <a:p>
            <a:pPr lvl="0"/>
            <a:r>
              <a:rPr lang="en-IN" sz="2400" dirty="0"/>
              <a:t>Find useful insights from loan and book data </a:t>
            </a:r>
          </a:p>
          <a:p>
            <a:pPr lvl="0"/>
            <a:r>
              <a:rPr lang="en-IN" sz="2400" dirty="0"/>
              <a:t>Support better library management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0D67-BFED-5CE8-2BAA-F0EEE60E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6988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Database Schema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B411D-DCE6-EB36-2FD8-0EF9AE170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32114"/>
            <a:ext cx="10515600" cy="504484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IN" sz="3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A222D0-DFAE-F337-79A5-1C2BB260E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43" y="1033792"/>
            <a:ext cx="10515599" cy="504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342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B2568-672E-8C3E-D688-2DD7F9B4E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6988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Dataset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38C0D1-FB43-E7B2-8842-856B7F7D58B3}"/>
              </a:ext>
            </a:extLst>
          </p:cNvPr>
          <p:cNvSpPr txBox="1"/>
          <p:nvPr/>
        </p:nvSpPr>
        <p:spPr>
          <a:xfrm>
            <a:off x="838200" y="1491343"/>
            <a:ext cx="912222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Data Source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 Database 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/>
              <a:t>Database </a:t>
            </a:r>
            <a:r>
              <a:rPr lang="en-IN" sz="2000" b="1" dirty="0" err="1"/>
              <a:t>Name: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library_db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/>
              <a:t>Total Tables:</a:t>
            </a:r>
            <a:r>
              <a:rPr lang="en-IN" sz="1600" dirty="0"/>
              <a:t>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 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/>
              <a:t>Tables</a:t>
            </a:r>
            <a:r>
              <a:rPr lang="en-IN" b="1" dirty="0"/>
              <a:t>:</a:t>
            </a:r>
          </a:p>
          <a:p>
            <a:r>
              <a:rPr lang="en-US" dirty="0"/>
              <a:t>tbl_publisher,tbl_book,tbl_book_authors,tbl_library_branch,tbl_book_copies,tbl_borrower,tbl_book_loans</a:t>
            </a:r>
          </a:p>
          <a:p>
            <a:endParaRPr lang="en-IN" dirty="0"/>
          </a:p>
          <a:p>
            <a:r>
              <a:rPr lang="en-IN" sz="2000" b="1" dirty="0"/>
              <a:t>Visualization &amp; Analysis Tool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/>
              <a:t>Purpose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</a:t>
            </a:r>
            <a:r>
              <a:rPr lang="en-IN" sz="1600" dirty="0"/>
              <a:t>o </a:t>
            </a:r>
            <a:r>
              <a:rPr lang="en-IN" sz="1600" dirty="0" err="1"/>
              <a:t>analyze</a:t>
            </a:r>
            <a:r>
              <a:rPr lang="en-IN" sz="1600" dirty="0"/>
              <a:t> library data and understand books, borrowers, loans, and branch activities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576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58DCCD-2174-EBB3-BD70-6BBA78208E24}"/>
              </a:ext>
            </a:extLst>
          </p:cNvPr>
          <p:cNvSpPr txBox="1"/>
          <p:nvPr/>
        </p:nvSpPr>
        <p:spPr>
          <a:xfrm>
            <a:off x="3991897" y="393292"/>
            <a:ext cx="3637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BUSINESS</a:t>
            </a:r>
            <a:r>
              <a:rPr lang="en-IN" sz="2400" dirty="0">
                <a:solidFill>
                  <a:srgbClr val="FF0000"/>
                </a:solidFill>
              </a:rPr>
              <a:t> </a:t>
            </a:r>
            <a:r>
              <a:rPr lang="en-IN" sz="2400" b="1" dirty="0">
                <a:solidFill>
                  <a:srgbClr val="FF0000"/>
                </a:solidFill>
              </a:rPr>
              <a:t>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9D20AA-711A-73C1-A941-F0B885A4DE0D}"/>
              </a:ext>
            </a:extLst>
          </p:cNvPr>
          <p:cNvSpPr txBox="1"/>
          <p:nvPr/>
        </p:nvSpPr>
        <p:spPr>
          <a:xfrm>
            <a:off x="4345858" y="934065"/>
            <a:ext cx="27847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chemeClr val="accent2"/>
                </a:solidFill>
              </a:rPr>
              <a:t>Module 1 – Book Analytics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4A940A-3D43-7CEC-0B96-A8D076E17B7A}"/>
              </a:ext>
            </a:extLst>
          </p:cNvPr>
          <p:cNvSpPr txBox="1"/>
          <p:nvPr/>
        </p:nvSpPr>
        <p:spPr>
          <a:xfrm>
            <a:off x="240855" y="1351727"/>
            <a:ext cx="9512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1.</a:t>
            </a:r>
            <a:r>
              <a:rPr lang="en-US" dirty="0"/>
              <a:t> How many copies of the book titled "The Lost Tribe" are owned by the library branch whose name is "Sharpstown"?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F70B5C-13DE-E8A0-2E12-02F7ECF20490}"/>
              </a:ext>
            </a:extLst>
          </p:cNvPr>
          <p:cNvSpPr txBox="1"/>
          <p:nvPr/>
        </p:nvSpPr>
        <p:spPr>
          <a:xfrm>
            <a:off x="240855" y="1848497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QUERY: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73195A-1E91-8155-78E4-BA6A42143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31" y="2168617"/>
            <a:ext cx="5753599" cy="19809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098B7E-62BE-286A-C855-507262DB1BDB}"/>
              </a:ext>
            </a:extLst>
          </p:cNvPr>
          <p:cNvSpPr txBox="1"/>
          <p:nvPr/>
        </p:nvSpPr>
        <p:spPr>
          <a:xfrm>
            <a:off x="240855" y="4508332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4FC79E-A032-BBBA-2699-45D454594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51" y="4963923"/>
            <a:ext cx="5886346" cy="141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101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6199B6-B9D7-2FA8-EAD0-5B2C4C270CBB}"/>
              </a:ext>
            </a:extLst>
          </p:cNvPr>
          <p:cNvSpPr txBox="1"/>
          <p:nvPr/>
        </p:nvSpPr>
        <p:spPr>
          <a:xfrm>
            <a:off x="353962" y="304801"/>
            <a:ext cx="7835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2.</a:t>
            </a:r>
            <a:r>
              <a:rPr lang="en-US" b="1" dirty="0"/>
              <a:t> How many copies of the book titled "The Lost Tribe" are owned by each library branch?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016DC-1039-95DB-126B-2D0589698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138597"/>
            <a:ext cx="5982218" cy="20175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31ED9A-121D-BEA8-A708-F7805AB1A2F3}"/>
              </a:ext>
            </a:extLst>
          </p:cNvPr>
          <p:cNvSpPr txBox="1"/>
          <p:nvPr/>
        </p:nvSpPr>
        <p:spPr>
          <a:xfrm>
            <a:off x="353962" y="721699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QUERY: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6F7301-CB17-B895-156B-E46123EBA58B}"/>
              </a:ext>
            </a:extLst>
          </p:cNvPr>
          <p:cNvSpPr txBox="1"/>
          <p:nvPr/>
        </p:nvSpPr>
        <p:spPr>
          <a:xfrm>
            <a:off x="353962" y="3248589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861A6E-C77A-5A9B-A43F-43D50AA1C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1" y="3777979"/>
            <a:ext cx="5982218" cy="19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338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6E982-E193-1A85-4A65-228549224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CF1957-0755-119A-729D-13AFDCB556DA}"/>
              </a:ext>
            </a:extLst>
          </p:cNvPr>
          <p:cNvSpPr txBox="1"/>
          <p:nvPr/>
        </p:nvSpPr>
        <p:spPr>
          <a:xfrm>
            <a:off x="235976" y="136058"/>
            <a:ext cx="10140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3.</a:t>
            </a:r>
            <a:r>
              <a:rPr lang="en-US" b="1" dirty="0"/>
              <a:t> For each book authored by "Stephen King", retrieve the title and the number of copies owned by the library branch</a:t>
            </a:r>
          </a:p>
          <a:p>
            <a:r>
              <a:rPr lang="en-US" b="1" dirty="0"/>
              <a:t>    whose name is "Central"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803E8F-1602-9C99-7B12-E9EADE53A142}"/>
              </a:ext>
            </a:extLst>
          </p:cNvPr>
          <p:cNvSpPr txBox="1"/>
          <p:nvPr/>
        </p:nvSpPr>
        <p:spPr>
          <a:xfrm>
            <a:off x="353962" y="721699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QUERY: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EB6DE-0537-06E6-A2C6-63AA11E448E7}"/>
              </a:ext>
            </a:extLst>
          </p:cNvPr>
          <p:cNvSpPr txBox="1"/>
          <p:nvPr/>
        </p:nvSpPr>
        <p:spPr>
          <a:xfrm>
            <a:off x="353962" y="3470204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98CD44-25DE-7FD2-1C7B-37BBFBFA1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17" y="1072337"/>
            <a:ext cx="6747912" cy="22313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4DADBB-F7BD-5055-DCD0-E2A01A0C2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17" y="4053284"/>
            <a:ext cx="6659422" cy="19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139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3C1D5-838B-9193-11D7-71DAC6B14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4DB488-9841-98EA-2EB6-3C55B46C1FA3}"/>
              </a:ext>
            </a:extLst>
          </p:cNvPr>
          <p:cNvSpPr txBox="1"/>
          <p:nvPr/>
        </p:nvSpPr>
        <p:spPr>
          <a:xfrm>
            <a:off x="235976" y="136058"/>
            <a:ext cx="5952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4.</a:t>
            </a:r>
            <a:r>
              <a:rPr lang="en-US" b="1" dirty="0"/>
              <a:t> Which books are borrowed the most across all library branches? 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C6D865-CF13-87E3-446E-C06D87A87D0D}"/>
              </a:ext>
            </a:extLst>
          </p:cNvPr>
          <p:cNvSpPr txBox="1"/>
          <p:nvPr/>
        </p:nvSpPr>
        <p:spPr>
          <a:xfrm>
            <a:off x="353962" y="721699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QUERY: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62018-398D-E70A-67D2-961D4845D10C}"/>
              </a:ext>
            </a:extLst>
          </p:cNvPr>
          <p:cNvSpPr txBox="1"/>
          <p:nvPr/>
        </p:nvSpPr>
        <p:spPr>
          <a:xfrm>
            <a:off x="353962" y="3470204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324A13-E73C-8ECC-E58C-C39F0BF80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17" y="1143562"/>
            <a:ext cx="7052712" cy="19050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AD0D68-6E69-7D10-4707-1D1D43855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21" y="3924582"/>
            <a:ext cx="6853082" cy="263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84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CB4AD-EA77-6E28-FC1A-ACC7A9D4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A32474-120C-BFDB-99E4-8D71A59BA0D1}"/>
              </a:ext>
            </a:extLst>
          </p:cNvPr>
          <p:cNvSpPr txBox="1"/>
          <p:nvPr/>
        </p:nvSpPr>
        <p:spPr>
          <a:xfrm>
            <a:off x="235976" y="136058"/>
            <a:ext cx="48141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5.</a:t>
            </a:r>
            <a:r>
              <a:rPr lang="en-US" b="1" dirty="0"/>
              <a:t> Which books have the lowest borrowing frequency?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7EE66B-C76D-CC69-0648-BEF05603193E}"/>
              </a:ext>
            </a:extLst>
          </p:cNvPr>
          <p:cNvSpPr txBox="1"/>
          <p:nvPr/>
        </p:nvSpPr>
        <p:spPr>
          <a:xfrm>
            <a:off x="353962" y="721699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QUERY: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D190EE-8F3C-81DB-11CE-5EABDB041627}"/>
              </a:ext>
            </a:extLst>
          </p:cNvPr>
          <p:cNvSpPr txBox="1"/>
          <p:nvPr/>
        </p:nvSpPr>
        <p:spPr>
          <a:xfrm>
            <a:off x="353962" y="3470204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B72B3D-3C12-D3F2-63A2-3F081C037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76" y="1104080"/>
            <a:ext cx="6574608" cy="21307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E0DFF9-4BD8-4C7E-EAE3-0107EEA97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76" y="3869444"/>
            <a:ext cx="6574608" cy="24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94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241AD-F9B3-D890-BBC5-A8BD5331C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BD50EC-8467-EE05-CEFB-1E738494D8D4}"/>
              </a:ext>
            </a:extLst>
          </p:cNvPr>
          <p:cNvSpPr txBox="1"/>
          <p:nvPr/>
        </p:nvSpPr>
        <p:spPr>
          <a:xfrm>
            <a:off x="3873895" y="78464"/>
            <a:ext cx="3185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chemeClr val="accent2"/>
                </a:solidFill>
              </a:rPr>
              <a:t>Module 2 – Borrower Analytics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0BA96-B0CD-91CB-5A60-755CD8571BA9}"/>
              </a:ext>
            </a:extLst>
          </p:cNvPr>
          <p:cNvSpPr txBox="1"/>
          <p:nvPr/>
        </p:nvSpPr>
        <p:spPr>
          <a:xfrm>
            <a:off x="110705" y="554742"/>
            <a:ext cx="65004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1.</a:t>
            </a:r>
            <a:r>
              <a:rPr lang="en-US" dirty="0"/>
              <a:t> Retrieve the names of all borrowers who do not have any books checked out.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740E47-34CF-882E-7094-C71568C10C22}"/>
              </a:ext>
            </a:extLst>
          </p:cNvPr>
          <p:cNvSpPr txBox="1"/>
          <p:nvPr/>
        </p:nvSpPr>
        <p:spPr>
          <a:xfrm>
            <a:off x="185412" y="1000243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QUERY: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D3CE09-AD92-12EA-0119-8FBA949987A6}"/>
              </a:ext>
            </a:extLst>
          </p:cNvPr>
          <p:cNvSpPr txBox="1"/>
          <p:nvPr/>
        </p:nvSpPr>
        <p:spPr>
          <a:xfrm>
            <a:off x="185412" y="3429000"/>
            <a:ext cx="978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RESULT: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4AFDAE-B0ED-DB05-EDAC-A3FB54BA4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34" y="1432558"/>
            <a:ext cx="4585189" cy="19964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2E899E-D8B8-A005-1F49-E681F3890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34" y="3822511"/>
            <a:ext cx="5804388" cy="203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794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AEE3-DD33-5E5C-8905-9AF17030B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538E4B-920C-2046-F73A-5EB328AE099E}"/>
              </a:ext>
            </a:extLst>
          </p:cNvPr>
          <p:cNvSpPr txBox="1"/>
          <p:nvPr/>
        </p:nvSpPr>
        <p:spPr>
          <a:xfrm>
            <a:off x="235976" y="136058"/>
            <a:ext cx="112854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2.</a:t>
            </a:r>
            <a:r>
              <a:rPr lang="en-US" b="1" dirty="0"/>
              <a:t> Retrieve the names, addresses, and number of books checked out for all borrowers who have more than five books checked out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C602A-BAB7-338C-B3D5-B547B0DAAE9E}"/>
              </a:ext>
            </a:extLst>
          </p:cNvPr>
          <p:cNvSpPr txBox="1"/>
          <p:nvPr/>
        </p:nvSpPr>
        <p:spPr>
          <a:xfrm>
            <a:off x="353962" y="721699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QUERY: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A8DCE2-4399-74EE-6952-F5D3648F18E9}"/>
              </a:ext>
            </a:extLst>
          </p:cNvPr>
          <p:cNvSpPr txBox="1"/>
          <p:nvPr/>
        </p:nvSpPr>
        <p:spPr>
          <a:xfrm>
            <a:off x="353962" y="3470204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5A26C9-0A81-AF28-8EC8-18E84B5BE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76" y="1066885"/>
            <a:ext cx="9386634" cy="21679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A7B9A5-C6BF-0DA5-F171-F042E983B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76" y="4029478"/>
            <a:ext cx="6505782" cy="233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858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8C66D-D3B6-8A70-585F-77090B617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37D7B8-3B5C-8B49-4CD3-5B45DA9A04DF}"/>
              </a:ext>
            </a:extLst>
          </p:cNvPr>
          <p:cNvSpPr txBox="1"/>
          <p:nvPr/>
        </p:nvSpPr>
        <p:spPr>
          <a:xfrm>
            <a:off x="235976" y="136058"/>
            <a:ext cx="6822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3.</a:t>
            </a:r>
            <a:r>
              <a:rPr lang="en-US" b="1" dirty="0"/>
              <a:t> Which borrowers currently have the highest number of books checked out?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E312BA-A07A-F0BD-24AD-155B60F134FC}"/>
              </a:ext>
            </a:extLst>
          </p:cNvPr>
          <p:cNvSpPr txBox="1"/>
          <p:nvPr/>
        </p:nvSpPr>
        <p:spPr>
          <a:xfrm>
            <a:off x="353962" y="721699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QUERY: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41EC8E-B8FB-F509-F795-6C190E1E58A6}"/>
              </a:ext>
            </a:extLst>
          </p:cNvPr>
          <p:cNvSpPr txBox="1"/>
          <p:nvPr/>
        </p:nvSpPr>
        <p:spPr>
          <a:xfrm>
            <a:off x="275414" y="3816438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F66F3B-9F42-3DA4-7C19-A643C5FD8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90" y="1018840"/>
            <a:ext cx="8791158" cy="24101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D21C63-0FA0-172B-CEC6-AFD87B47F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90" y="4402079"/>
            <a:ext cx="7562126" cy="219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789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053C6-D604-4C65-34A4-0F2652D13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3DE3E5-802B-235F-F56A-61EFC119E13F}"/>
              </a:ext>
            </a:extLst>
          </p:cNvPr>
          <p:cNvSpPr txBox="1"/>
          <p:nvPr/>
        </p:nvSpPr>
        <p:spPr>
          <a:xfrm>
            <a:off x="235976" y="136058"/>
            <a:ext cx="40030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4.</a:t>
            </a:r>
            <a:r>
              <a:rPr lang="en-US" b="1" dirty="0"/>
              <a:t> Who are the Top 5 most active borrowers?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02D4E3-8287-D047-CF5C-068310680215}"/>
              </a:ext>
            </a:extLst>
          </p:cNvPr>
          <p:cNvSpPr txBox="1"/>
          <p:nvPr/>
        </p:nvSpPr>
        <p:spPr>
          <a:xfrm>
            <a:off x="353962" y="721699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QUERY: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F0E60-65E5-1B9D-9F6A-C9CB5D5572FA}"/>
              </a:ext>
            </a:extLst>
          </p:cNvPr>
          <p:cNvSpPr txBox="1"/>
          <p:nvPr/>
        </p:nvSpPr>
        <p:spPr>
          <a:xfrm>
            <a:off x="353962" y="3470204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946042-70C1-01BA-C065-BAFDD0BF2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93" y="1029477"/>
            <a:ext cx="8435435" cy="21892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D5F999-0B15-ED45-DF73-EC7C844EA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92" y="4003764"/>
            <a:ext cx="6726382" cy="285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992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731B5-F33A-3352-30CF-778AD008B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7DFD7D-3A27-8F66-4D22-9A23CC6FBA50}"/>
              </a:ext>
            </a:extLst>
          </p:cNvPr>
          <p:cNvSpPr txBox="1"/>
          <p:nvPr/>
        </p:nvSpPr>
        <p:spPr>
          <a:xfrm>
            <a:off x="235976" y="136058"/>
            <a:ext cx="5808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4.</a:t>
            </a:r>
            <a:r>
              <a:rPr lang="en-US" b="1" dirty="0"/>
              <a:t> What is the Average Number of Books Borrowed per Borrower?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717A4D-469F-2D87-C5E5-03DE82B5979F}"/>
              </a:ext>
            </a:extLst>
          </p:cNvPr>
          <p:cNvSpPr txBox="1"/>
          <p:nvPr/>
        </p:nvSpPr>
        <p:spPr>
          <a:xfrm>
            <a:off x="353962" y="721699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QUERY: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7D1651-8924-5248-F12F-0B8FD1C0F65B}"/>
              </a:ext>
            </a:extLst>
          </p:cNvPr>
          <p:cNvSpPr txBox="1"/>
          <p:nvPr/>
        </p:nvSpPr>
        <p:spPr>
          <a:xfrm>
            <a:off x="314687" y="3757377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AC1C22-EDD2-D3F0-F16C-CBCD403E6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92" y="1107373"/>
            <a:ext cx="5576008" cy="25207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F98370-75C4-5077-E542-E5CD15945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91" y="4352326"/>
            <a:ext cx="6087285" cy="166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5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2C5F8-7A35-2B13-1350-04A3EF49D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EA4A6E-A092-85A5-4813-B1915290C786}"/>
              </a:ext>
            </a:extLst>
          </p:cNvPr>
          <p:cNvSpPr txBox="1"/>
          <p:nvPr/>
        </p:nvSpPr>
        <p:spPr>
          <a:xfrm>
            <a:off x="4606649" y="91511"/>
            <a:ext cx="29787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chemeClr val="accent2"/>
                </a:solidFill>
              </a:rPr>
              <a:t>Module 3 – Branch Analytics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6AF570-EA45-B27B-845E-17541E9E6742}"/>
              </a:ext>
            </a:extLst>
          </p:cNvPr>
          <p:cNvSpPr txBox="1"/>
          <p:nvPr/>
        </p:nvSpPr>
        <p:spPr>
          <a:xfrm>
            <a:off x="101249" y="579347"/>
            <a:ext cx="9010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1.</a:t>
            </a:r>
            <a:r>
              <a:rPr lang="en-US" dirty="0"/>
              <a:t> For each library branch, retrieve the branch name and the total number of books loaned out from that branch.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8076B-DDAF-819A-7916-74899E4C9704}"/>
              </a:ext>
            </a:extLst>
          </p:cNvPr>
          <p:cNvSpPr txBox="1"/>
          <p:nvPr/>
        </p:nvSpPr>
        <p:spPr>
          <a:xfrm>
            <a:off x="201580" y="922227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QUERY: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E9BA21-600E-07EC-B2E1-F365198D0E6D}"/>
              </a:ext>
            </a:extLst>
          </p:cNvPr>
          <p:cNvSpPr txBox="1"/>
          <p:nvPr/>
        </p:nvSpPr>
        <p:spPr>
          <a:xfrm>
            <a:off x="201580" y="3465769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C032E6-07F5-128E-4B2B-1FD1F46BF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60" y="1367811"/>
            <a:ext cx="8459098" cy="19112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E96FAB-A652-CFEA-5B11-0855F54BD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60" y="3899166"/>
            <a:ext cx="8459098" cy="237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057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EA4B0-2ADF-A973-3B3F-29A51E8FC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DCAC01-CC90-7D77-71A8-51B5DD1451A4}"/>
              </a:ext>
            </a:extLst>
          </p:cNvPr>
          <p:cNvSpPr txBox="1"/>
          <p:nvPr/>
        </p:nvSpPr>
        <p:spPr>
          <a:xfrm>
            <a:off x="235976" y="136058"/>
            <a:ext cx="5798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2.</a:t>
            </a:r>
            <a:r>
              <a:rPr lang="en-US" b="1" dirty="0"/>
              <a:t> Which library branch owns the highest number of book copies?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A211EA-4D02-CCA0-A256-32081B421B82}"/>
              </a:ext>
            </a:extLst>
          </p:cNvPr>
          <p:cNvSpPr txBox="1"/>
          <p:nvPr/>
        </p:nvSpPr>
        <p:spPr>
          <a:xfrm>
            <a:off x="353962" y="721699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QUERY: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43B50E-71CE-41F9-156F-7A2B3D543483}"/>
              </a:ext>
            </a:extLst>
          </p:cNvPr>
          <p:cNvSpPr txBox="1"/>
          <p:nvPr/>
        </p:nvSpPr>
        <p:spPr>
          <a:xfrm>
            <a:off x="314687" y="3757377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B1DBB6-77C9-D8C3-5854-5F68F38B8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90" y="1167750"/>
            <a:ext cx="8791157" cy="22612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E04F90-CEA0-C5F2-4E64-8E9C586A9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90" y="4393530"/>
            <a:ext cx="6529739" cy="208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497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79131-F928-30DF-5DDD-65303DF0B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2115F9-52A0-A986-68C9-4A7A1FEFF9F3}"/>
              </a:ext>
            </a:extLst>
          </p:cNvPr>
          <p:cNvSpPr txBox="1"/>
          <p:nvPr/>
        </p:nvSpPr>
        <p:spPr>
          <a:xfrm>
            <a:off x="235976" y="136058"/>
            <a:ext cx="60853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3</a:t>
            </a:r>
            <a:r>
              <a:rPr lang="en-US" b="1" dirty="0"/>
              <a:t>.Which library branch has the highest number of unique book titles?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4ADB6B-3431-0981-8679-904C764746F5}"/>
              </a:ext>
            </a:extLst>
          </p:cNvPr>
          <p:cNvSpPr txBox="1"/>
          <p:nvPr/>
        </p:nvSpPr>
        <p:spPr>
          <a:xfrm>
            <a:off x="353962" y="721699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QUERY: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9B9AC1-8D5B-8D7B-6EE8-54ED596392BF}"/>
              </a:ext>
            </a:extLst>
          </p:cNvPr>
          <p:cNvSpPr txBox="1"/>
          <p:nvPr/>
        </p:nvSpPr>
        <p:spPr>
          <a:xfrm>
            <a:off x="275414" y="3816438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5771D9-4821-9DF5-4096-7BA8784B6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88" y="1092007"/>
            <a:ext cx="8073405" cy="24574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DA008F-FA55-F025-9995-DF7A197EE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87" y="4149841"/>
            <a:ext cx="6510077" cy="245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917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3682-7FE1-A5C8-6735-36B8831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0E9239-84B4-E6D4-A1F8-23C1EE269297}"/>
              </a:ext>
            </a:extLst>
          </p:cNvPr>
          <p:cNvSpPr txBox="1"/>
          <p:nvPr/>
        </p:nvSpPr>
        <p:spPr>
          <a:xfrm>
            <a:off x="235976" y="136058"/>
            <a:ext cx="7031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4.</a:t>
            </a:r>
            <a:r>
              <a:rPr lang="en-US" b="1" dirty="0"/>
              <a:t> Which library branch has processed the highest number of loan transactions?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2919F3-0B51-A8ED-5414-CF2F3835644D}"/>
              </a:ext>
            </a:extLst>
          </p:cNvPr>
          <p:cNvSpPr txBox="1"/>
          <p:nvPr/>
        </p:nvSpPr>
        <p:spPr>
          <a:xfrm>
            <a:off x="353962" y="721699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QUERY: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78D827-C87D-AB53-2928-049B047810F0}"/>
              </a:ext>
            </a:extLst>
          </p:cNvPr>
          <p:cNvSpPr txBox="1"/>
          <p:nvPr/>
        </p:nvSpPr>
        <p:spPr>
          <a:xfrm>
            <a:off x="314687" y="3757377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529D8B-F902-3716-3EE3-9976976B4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90" y="1213374"/>
            <a:ext cx="9164784" cy="25440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AA1CA2-ED31-E6AE-DDC2-2EDB52FBB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90" y="4343018"/>
            <a:ext cx="6747078" cy="195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956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B56D3-D2B2-0D17-A86C-431E89B59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93BD51-E40C-ED00-454A-A8FBA0239C72}"/>
              </a:ext>
            </a:extLst>
          </p:cNvPr>
          <p:cNvSpPr txBox="1"/>
          <p:nvPr/>
        </p:nvSpPr>
        <p:spPr>
          <a:xfrm>
            <a:off x="235976" y="136058"/>
            <a:ext cx="7880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5.</a:t>
            </a:r>
            <a:r>
              <a:rPr lang="en-US" b="1" dirty="0"/>
              <a:t> Which library branch has the highest average number of books borrowed per borrower ?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0327A0-6DF2-3DC0-A666-AEAE6A3C2790}"/>
              </a:ext>
            </a:extLst>
          </p:cNvPr>
          <p:cNvSpPr txBox="1"/>
          <p:nvPr/>
        </p:nvSpPr>
        <p:spPr>
          <a:xfrm>
            <a:off x="353962" y="721699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QUERY: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0A97B9-1D17-DB2C-0658-E7E6DD3FDA0B}"/>
              </a:ext>
            </a:extLst>
          </p:cNvPr>
          <p:cNvSpPr txBox="1"/>
          <p:nvPr/>
        </p:nvSpPr>
        <p:spPr>
          <a:xfrm>
            <a:off x="275414" y="3816438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BDCE1A-993C-D3A4-18BD-B8B60D8CA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90" y="1041482"/>
            <a:ext cx="9617068" cy="26259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44D66B-F557-258D-CB41-601C4F94B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90" y="4265079"/>
            <a:ext cx="7453971" cy="218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023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4F759-FF54-F1F5-73A7-5B9321371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F66EB2-F885-18D7-7C3D-D76D46F47B87}"/>
              </a:ext>
            </a:extLst>
          </p:cNvPr>
          <p:cNvSpPr txBox="1"/>
          <p:nvPr/>
        </p:nvSpPr>
        <p:spPr>
          <a:xfrm>
            <a:off x="3980385" y="152060"/>
            <a:ext cx="27622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chemeClr val="accent2"/>
                </a:solidFill>
              </a:rPr>
              <a:t>Module 4 – Loan Analytics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650D9-E777-FF26-2CCD-BED2BA769A69}"/>
              </a:ext>
            </a:extLst>
          </p:cNvPr>
          <p:cNvSpPr txBox="1"/>
          <p:nvPr/>
        </p:nvSpPr>
        <p:spPr>
          <a:xfrm>
            <a:off x="240855" y="594662"/>
            <a:ext cx="117310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For each book that is loaned out from the "Sharpstown" branch and whose Due Date is 2/3/18, retrieve the book title, the borrower’s</a:t>
            </a:r>
          </a:p>
          <a:p>
            <a:r>
              <a:rPr lang="en-US" b="1" dirty="0"/>
              <a:t> name, and the borrower's address.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D2B130-6CA1-F994-88E7-455363E63098}"/>
              </a:ext>
            </a:extLst>
          </p:cNvPr>
          <p:cNvSpPr txBox="1"/>
          <p:nvPr/>
        </p:nvSpPr>
        <p:spPr>
          <a:xfrm>
            <a:off x="201580" y="1220932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QUERY: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6AF269-DAD1-58B5-02F3-66A1745684D9}"/>
              </a:ext>
            </a:extLst>
          </p:cNvPr>
          <p:cNvSpPr txBox="1"/>
          <p:nvPr/>
        </p:nvSpPr>
        <p:spPr>
          <a:xfrm>
            <a:off x="201580" y="4079020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44A069-9012-F26D-2A08-F2BDD803D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59" y="1528709"/>
            <a:ext cx="8154298" cy="24389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47337A-8DEE-6505-7F74-AA2997433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59" y="4594894"/>
            <a:ext cx="7043253" cy="207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30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804E7-2F50-904E-4807-00CB9EC56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C9639A-DCA7-0674-A732-EAF407778D38}"/>
              </a:ext>
            </a:extLst>
          </p:cNvPr>
          <p:cNvSpPr txBox="1"/>
          <p:nvPr/>
        </p:nvSpPr>
        <p:spPr>
          <a:xfrm>
            <a:off x="235976" y="136058"/>
            <a:ext cx="6098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2.</a:t>
            </a:r>
            <a:r>
              <a:rPr lang="en-US" b="1" dirty="0"/>
              <a:t> Which books have been borrowed the most in each library branch?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2A275-A165-176A-4439-76933016EE98}"/>
              </a:ext>
            </a:extLst>
          </p:cNvPr>
          <p:cNvSpPr txBox="1"/>
          <p:nvPr/>
        </p:nvSpPr>
        <p:spPr>
          <a:xfrm>
            <a:off x="353962" y="721699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QUERY: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E8F588-B526-3FAD-9755-4128E424DACE}"/>
              </a:ext>
            </a:extLst>
          </p:cNvPr>
          <p:cNvSpPr txBox="1"/>
          <p:nvPr/>
        </p:nvSpPr>
        <p:spPr>
          <a:xfrm>
            <a:off x="275414" y="4667482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8155F47-F45C-13A8-0AAF-0BFA3642B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75" y="1029476"/>
            <a:ext cx="8987880" cy="343691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28BE0FF-4FBB-EAA0-9121-5406DF3F8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59" y="4975259"/>
            <a:ext cx="6914857" cy="164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520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01E3AD-D6D3-F785-8F2A-049CF126D0B4}"/>
              </a:ext>
            </a:extLst>
          </p:cNvPr>
          <p:cNvSpPr txBox="1"/>
          <p:nvPr/>
        </p:nvSpPr>
        <p:spPr>
          <a:xfrm>
            <a:off x="4492035" y="196644"/>
            <a:ext cx="32079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rgbClr val="C00000"/>
                </a:solidFill>
              </a:rPr>
              <a:t>Module 5 – Publisher Analytics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3E0CA7-350B-5807-2C94-3F550DD974D5}"/>
              </a:ext>
            </a:extLst>
          </p:cNvPr>
          <p:cNvSpPr txBox="1"/>
          <p:nvPr/>
        </p:nvSpPr>
        <p:spPr>
          <a:xfrm>
            <a:off x="304800" y="786581"/>
            <a:ext cx="68707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1.</a:t>
            </a:r>
            <a:r>
              <a:rPr lang="en-US" b="1" dirty="0"/>
              <a:t> Which publishers have the highest number of books available in the library?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81F81-86EA-7C4E-C3B9-2BACE0C4FCDA}"/>
              </a:ext>
            </a:extLst>
          </p:cNvPr>
          <p:cNvSpPr txBox="1"/>
          <p:nvPr/>
        </p:nvSpPr>
        <p:spPr>
          <a:xfrm>
            <a:off x="304800" y="1191852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QUERY: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F57685-64F9-E861-A149-448194307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4" y="1604496"/>
            <a:ext cx="6669748" cy="18245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B9125D-230E-1A0A-C250-0266F1ECBB60}"/>
              </a:ext>
            </a:extLst>
          </p:cNvPr>
          <p:cNvSpPr txBox="1"/>
          <p:nvPr/>
        </p:nvSpPr>
        <p:spPr>
          <a:xfrm>
            <a:off x="304800" y="3785248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2A720C-D539-EA7A-2E27-B8D4F0D88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03" y="4168877"/>
            <a:ext cx="7851577" cy="220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883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3E7E8-E823-1BD2-01DC-100947B3B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007083-48D8-ED22-12C0-EB586DBE2247}"/>
              </a:ext>
            </a:extLst>
          </p:cNvPr>
          <p:cNvSpPr txBox="1"/>
          <p:nvPr/>
        </p:nvSpPr>
        <p:spPr>
          <a:xfrm>
            <a:off x="235976" y="136058"/>
            <a:ext cx="77267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2.</a:t>
            </a:r>
            <a:r>
              <a:rPr lang="en-US" b="1" dirty="0"/>
              <a:t> Which publisher owns the highest number of book copies across all library branches?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252525-66ED-EE6F-3025-7B725D9A4077}"/>
              </a:ext>
            </a:extLst>
          </p:cNvPr>
          <p:cNvSpPr txBox="1"/>
          <p:nvPr/>
        </p:nvSpPr>
        <p:spPr>
          <a:xfrm>
            <a:off x="353962" y="721699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QUERY: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CE6189-D1CA-B0D5-773A-5EB4EB2C7A2B}"/>
              </a:ext>
            </a:extLst>
          </p:cNvPr>
          <p:cNvSpPr txBox="1"/>
          <p:nvPr/>
        </p:nvSpPr>
        <p:spPr>
          <a:xfrm>
            <a:off x="275414" y="3816438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377460-0184-9DC3-7F93-EF7475013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89" y="1129778"/>
            <a:ext cx="7827597" cy="24087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930985-B247-0805-A40D-2AD3540B7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89" y="4224517"/>
            <a:ext cx="7522798" cy="227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897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26BACA1-B332-A570-3A24-A4A679F801C3}"/>
              </a:ext>
            </a:extLst>
          </p:cNvPr>
          <p:cNvSpPr txBox="1"/>
          <p:nvPr/>
        </p:nvSpPr>
        <p:spPr>
          <a:xfrm>
            <a:off x="245806" y="81341"/>
            <a:ext cx="10205884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chemeClr val="accent1"/>
                </a:solidFill>
              </a:rPr>
              <a:t>Key Insights:</a:t>
            </a:r>
          </a:p>
          <a:p>
            <a:pPr>
              <a:buNone/>
            </a:pPr>
            <a:endParaRPr lang="en-IN" sz="2800" b="1" dirty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IN" sz="2400" dirty="0"/>
              <a:t>  • Identified the most frequently borrowed books.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  • Identified books with the lowest borrowing frequency.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  • Found the most active borrowers in the library.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  • Identified borrowers with more than five books checked out.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  • Compared branches based on total loan transactions.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  • Identified the branch with the highest number of book copies.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  • Found publishers with higher book availability.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  • </a:t>
            </a:r>
            <a:r>
              <a:rPr lang="en-IN" sz="2400" dirty="0" err="1"/>
              <a:t>Analyzed</a:t>
            </a:r>
            <a:r>
              <a:rPr lang="en-IN" sz="2400" dirty="0"/>
              <a:t> loan activity across different library branches.</a:t>
            </a:r>
          </a:p>
        </p:txBody>
      </p:sp>
    </p:spTree>
    <p:extLst>
      <p:ext uri="{BB962C8B-B14F-4D97-AF65-F5344CB8AC3E}">
        <p14:creationId xmlns:p14="http://schemas.microsoft.com/office/powerpoint/2010/main" val="1666570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D7F1B4-F1CA-ADA6-F01B-0C8CAEFB6E13}"/>
              </a:ext>
            </a:extLst>
          </p:cNvPr>
          <p:cNvSpPr txBox="1"/>
          <p:nvPr/>
        </p:nvSpPr>
        <p:spPr>
          <a:xfrm>
            <a:off x="176981" y="0"/>
            <a:ext cx="9556956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Recommendations:</a:t>
            </a:r>
          </a:p>
          <a:p>
            <a:pPr>
              <a:buNone/>
            </a:pPr>
            <a:endParaRPr lang="en-IN" sz="28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IN" sz="2400" dirty="0"/>
              <a:t>  • Keep additional copies of highly borrowed books.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  • Review low-demand books before purchasing more copies.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  • Monitor borrowers with multiple books checked out.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  • Encourage borrowers to return books on time.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  • Improve resources in branches with lower activity.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  • Use loan data to plan book purchases.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  • Maintain sufficient copies based on borrowing demand.</a:t>
            </a:r>
          </a:p>
          <a:p>
            <a:pPr>
              <a:buNone/>
            </a:pPr>
            <a:br>
              <a:rPr lang="en-IN" sz="2400" dirty="0"/>
            </a:br>
            <a:r>
              <a:rPr lang="en-IN" sz="2400" dirty="0"/>
              <a:t>  • Regularly </a:t>
            </a:r>
            <a:r>
              <a:rPr lang="en-IN" sz="2400" dirty="0" err="1"/>
              <a:t>analyze</a:t>
            </a:r>
            <a:r>
              <a:rPr lang="en-IN" sz="2400" dirty="0"/>
              <a:t> library data to improve resource management.</a:t>
            </a:r>
          </a:p>
        </p:txBody>
      </p:sp>
    </p:spTree>
    <p:extLst>
      <p:ext uri="{BB962C8B-B14F-4D97-AF65-F5344CB8AC3E}">
        <p14:creationId xmlns:p14="http://schemas.microsoft.com/office/powerpoint/2010/main" val="146182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31A3A7-8F22-EC8B-A544-2FEA7594BA7E}"/>
              </a:ext>
            </a:extLst>
          </p:cNvPr>
          <p:cNvSpPr txBox="1"/>
          <p:nvPr/>
        </p:nvSpPr>
        <p:spPr>
          <a:xfrm>
            <a:off x="353962" y="67180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rgbClr val="FF0000"/>
                </a:solidFill>
              </a:rPr>
              <a:t>Conclusion: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8A3E04-372E-9651-CEAA-374788656286}"/>
              </a:ext>
            </a:extLst>
          </p:cNvPr>
          <p:cNvSpPr txBox="1"/>
          <p:nvPr/>
        </p:nvSpPr>
        <p:spPr>
          <a:xfrm>
            <a:off x="776750" y="1376979"/>
            <a:ext cx="1009122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This project uses SQL to analyse different aspects of the Library Management System, </a:t>
            </a:r>
          </a:p>
          <a:p>
            <a:r>
              <a:rPr lang="en-IN" sz="2000" dirty="0"/>
              <a:t>including books, borrowers, branches, loans, and publishers. The analysis helped </a:t>
            </a:r>
          </a:p>
          <a:p>
            <a:r>
              <a:rPr lang="en-IN" sz="2000" dirty="0"/>
              <a:t>identify borrowing patterns, popular books, active borrowers, and branch performance,</a:t>
            </a:r>
          </a:p>
          <a:p>
            <a:r>
              <a:rPr lang="en-IN" sz="2000" dirty="0"/>
              <a:t> providing useful insights for better resource management and more informed library </a:t>
            </a:r>
          </a:p>
          <a:p>
            <a:r>
              <a:rPr lang="en-IN" sz="2000" dirty="0"/>
              <a:t>decisions.</a:t>
            </a:r>
          </a:p>
        </p:txBody>
      </p:sp>
    </p:spTree>
    <p:extLst>
      <p:ext uri="{BB962C8B-B14F-4D97-AF65-F5344CB8AC3E}">
        <p14:creationId xmlns:p14="http://schemas.microsoft.com/office/powerpoint/2010/main" val="1745867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683DC-D569-0AA9-7C8A-857DDD517C73}"/>
              </a:ext>
            </a:extLst>
          </p:cNvPr>
          <p:cNvSpPr txBox="1"/>
          <p:nvPr/>
        </p:nvSpPr>
        <p:spPr>
          <a:xfrm>
            <a:off x="576943" y="559490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Presented by:</a:t>
            </a:r>
          </a:p>
          <a:p>
            <a:r>
              <a:rPr lang="en-IN" b="1" dirty="0">
                <a:solidFill>
                  <a:schemeClr val="accent2"/>
                </a:solidFill>
              </a:rPr>
              <a:t>Name</a:t>
            </a:r>
            <a:r>
              <a:rPr lang="en-IN" b="1" dirty="0"/>
              <a:t>:</a:t>
            </a:r>
            <a:r>
              <a:rPr lang="en-IN" dirty="0"/>
              <a:t> R. Yerriswamy Reddy</a:t>
            </a:r>
          </a:p>
          <a:p>
            <a:r>
              <a:rPr lang="en-IN" dirty="0" err="1"/>
              <a:t>B.Tech</a:t>
            </a:r>
            <a:r>
              <a:rPr lang="en-IN" dirty="0"/>
              <a:t> CSE (AI &amp; ML)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1748</TotalTime>
  <Words>941</Words>
  <Application>Microsoft Office PowerPoint</Application>
  <PresentationFormat>Widescreen</PresentationFormat>
  <Paragraphs>141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Arial Black</vt:lpstr>
      <vt:lpstr>Libre Baskerville</vt:lpstr>
      <vt:lpstr>Calibri</vt:lpstr>
      <vt:lpstr>Office Theme</vt:lpstr>
      <vt:lpstr>PowerPoint Presentation</vt:lpstr>
      <vt:lpstr>PowerPoint Presentation</vt:lpstr>
      <vt:lpstr> </vt:lpstr>
      <vt:lpstr>Database Schema</vt:lpstr>
      <vt:lpstr>Dataset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Ganesh Meesala</cp:lastModifiedBy>
  <cp:revision>7</cp:revision>
  <dcterms:created xsi:type="dcterms:W3CDTF">2021-02-16T05:19:01Z</dcterms:created>
  <dcterms:modified xsi:type="dcterms:W3CDTF">2026-08-29T08:34:44Z</dcterms:modified>
</cp:coreProperties>
</file>